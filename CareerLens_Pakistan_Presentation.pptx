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  <Override PartName="/ppt/media/image13.png" ContentType="image/png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2E0481F-254E-4706-8491-F48AA2C521E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72B6D39-24AB-4E0B-981E-3B8CBBCDD929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2244BB6-D881-46AF-B327-C4B778818A2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CD2834F-9526-446F-8B6F-E4A37390E179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B8D9A76-D469-4847-ACB9-80EDCF1D579E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DDCBD32-1403-4DB2-A5BB-6A2C96E3965F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F98DE24-0A48-40A9-8B52-E34466065B47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6C94BAC-3F13-43E4-AFBC-631F34A8331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021810E-324A-4C81-9937-CF87A1227A6C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DCA2766-05C1-4B7F-98F0-AFAE84EEB887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928ED37-F49A-45FE-8322-BB0F322D6DC7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C2666E9-1728-4476-9508-9F5E0BE653DC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8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3A15C83-D8FE-4478-A055-51BAA7EF333A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8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DD78567-32F5-4E79-846E-4A15AE2E65D3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8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10D5B97-494C-4448-BC38-C46ED96E9852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4205880" cy="5143320"/>
          </a:xfrm>
          <a:prstGeom prst="rect">
            <a:avLst/>
          </a:prstGeom>
          <a:solidFill>
            <a:srgbClr val="0d1b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0"/>
            <a:ext cx="4205880" cy="7272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" name="Image 0" descr="preencoded.png"/>
          <p:cNvPicPr/>
          <p:nvPr/>
        </p:nvPicPr>
        <p:blipFill>
          <a:blip r:embed="rId1"/>
          <a:stretch/>
        </p:blipFill>
        <p:spPr>
          <a:xfrm>
            <a:off x="1554480" y="731520"/>
            <a:ext cx="1096920" cy="1096920"/>
          </a:xfrm>
          <a:prstGeom prst="rect">
            <a:avLst/>
          </a:prstGeom>
          <a:ln w="0">
            <a:noFill/>
          </a:ln>
        </p:spPr>
      </p:pic>
      <p:sp>
        <p:nvSpPr>
          <p:cNvPr id="11" name="Text 2"/>
          <p:cNvSpPr/>
          <p:nvPr/>
        </p:nvSpPr>
        <p:spPr>
          <a:xfrm>
            <a:off x="274320" y="2011680"/>
            <a:ext cx="3657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299" strike="noStrike">
                <a:solidFill>
                  <a:srgbClr val="ffffff"/>
                </a:solidFill>
                <a:latin typeface="Calibri"/>
                <a:ea typeface="Calibri"/>
              </a:rPr>
              <a:t>CareerLens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274320" y="260604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599" strike="noStrike">
                <a:solidFill>
                  <a:srgbClr val="06b6d4"/>
                </a:solidFill>
                <a:latin typeface="Calibri"/>
                <a:ea typeface="Calibri"/>
              </a:rPr>
              <a:t>PAKISTAN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4"/>
          <p:cNvSpPr/>
          <p:nvPr/>
        </p:nvSpPr>
        <p:spPr>
          <a:xfrm>
            <a:off x="274320" y="3154680"/>
            <a:ext cx="1096920" cy="363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Text 5"/>
          <p:cNvSpPr/>
          <p:nvPr/>
        </p:nvSpPr>
        <p:spPr>
          <a:xfrm>
            <a:off x="274320" y="3291840"/>
            <a:ext cx="3657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AI-Driven Career Guidance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for the Pakistani Professional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4572000" y="91440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98" strike="noStrike">
                <a:solidFill>
                  <a:srgbClr val="3b82f6"/>
                </a:solidFill>
                <a:latin typeface="Calibri"/>
                <a:ea typeface="Calibri"/>
              </a:rPr>
              <a:t>FINAL PROJECT REPORT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4572000" y="1325880"/>
            <a:ext cx="4114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2e8f0"/>
                </a:solidFill>
                <a:latin typeface="Calibri"/>
                <a:ea typeface="Calibri"/>
              </a:rPr>
              <a:t>An AI-powered platform that connects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2e8f0"/>
                </a:solidFill>
                <a:latin typeface="Calibri"/>
                <a:ea typeface="Calibri"/>
              </a:rPr>
              <a:t>students and professionals with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2e8f0"/>
                </a:solidFill>
                <a:latin typeface="Calibri"/>
                <a:ea typeface="Calibri"/>
              </a:rPr>
              <a:t>localized career opportunities.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8"/>
          <p:cNvSpPr/>
          <p:nvPr/>
        </p:nvSpPr>
        <p:spPr>
          <a:xfrm>
            <a:off x="4572000" y="2514600"/>
            <a:ext cx="1371240" cy="77688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Shape 9"/>
          <p:cNvSpPr/>
          <p:nvPr/>
        </p:nvSpPr>
        <p:spPr>
          <a:xfrm>
            <a:off x="4572000" y="2514600"/>
            <a:ext cx="1371240" cy="453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4572000" y="257868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74+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1"/>
          <p:cNvSpPr/>
          <p:nvPr/>
        </p:nvSpPr>
        <p:spPr>
          <a:xfrm>
            <a:off x="4572000" y="294444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  <a:ea typeface="Calibri"/>
              </a:rPr>
              <a:t>Local Careers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2"/>
          <p:cNvSpPr/>
          <p:nvPr/>
        </p:nvSpPr>
        <p:spPr>
          <a:xfrm>
            <a:off x="6099120" y="2514600"/>
            <a:ext cx="1371240" cy="77688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Shape 13"/>
          <p:cNvSpPr/>
          <p:nvPr/>
        </p:nvSpPr>
        <p:spPr>
          <a:xfrm>
            <a:off x="6099120" y="2514600"/>
            <a:ext cx="1371240" cy="453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Text 14"/>
          <p:cNvSpPr/>
          <p:nvPr/>
        </p:nvSpPr>
        <p:spPr>
          <a:xfrm>
            <a:off x="6099120" y="257868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3,012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5"/>
          <p:cNvSpPr/>
          <p:nvPr/>
        </p:nvSpPr>
        <p:spPr>
          <a:xfrm>
            <a:off x="6099120" y="294444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  <a:ea typeface="Calibri"/>
              </a:rPr>
              <a:t>Training Records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6"/>
          <p:cNvSpPr/>
          <p:nvPr/>
        </p:nvSpPr>
        <p:spPr>
          <a:xfrm>
            <a:off x="7626240" y="2514600"/>
            <a:ext cx="1371240" cy="77688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Shape 17"/>
          <p:cNvSpPr/>
          <p:nvPr/>
        </p:nvSpPr>
        <p:spPr>
          <a:xfrm>
            <a:off x="7626240" y="2514600"/>
            <a:ext cx="1371240" cy="453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Text 18"/>
          <p:cNvSpPr/>
          <p:nvPr/>
        </p:nvSpPr>
        <p:spPr>
          <a:xfrm>
            <a:off x="7626240" y="257868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19"/>
          <p:cNvSpPr/>
          <p:nvPr/>
        </p:nvSpPr>
        <p:spPr>
          <a:xfrm>
            <a:off x="7626240" y="294444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  <a:ea typeface="Calibri"/>
              </a:rPr>
              <a:t>Provinces Covered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20"/>
          <p:cNvSpPr/>
          <p:nvPr/>
        </p:nvSpPr>
        <p:spPr>
          <a:xfrm>
            <a:off x="4572000" y="466344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chemeClr val="lt1"/>
                </a:solidFill>
                <a:latin typeface="Calibri"/>
                <a:ea typeface="Calibri"/>
              </a:rPr>
              <a:t>Prepared by: Abubakar Ahmad | Wajahat Ali Khan | Numan Mohsen 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Text 1"/>
          <p:cNvSpPr/>
          <p:nvPr/>
        </p:nvSpPr>
        <p:spPr>
          <a:xfrm>
            <a:off x="457200" y="25596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98" strike="noStrike">
                <a:solidFill>
                  <a:srgbClr val="3b82f6"/>
                </a:solidFill>
                <a:latin typeface="Calibri"/>
                <a:ea typeface="Calibri"/>
              </a:rPr>
              <a:t>OVERVIEW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2"/>
          <p:cNvSpPr/>
          <p:nvPr/>
        </p:nvSpPr>
        <p:spPr>
          <a:xfrm>
            <a:off x="7955280" y="484632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2 / 14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3"/>
          <p:cNvSpPr/>
          <p:nvPr/>
        </p:nvSpPr>
        <p:spPr>
          <a:xfrm>
            <a:off x="457200" y="5029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Agenda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4"/>
          <p:cNvSpPr/>
          <p:nvPr/>
        </p:nvSpPr>
        <p:spPr>
          <a:xfrm>
            <a:off x="365760" y="1143000"/>
            <a:ext cx="4160160" cy="65808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Shape 5"/>
          <p:cNvSpPr/>
          <p:nvPr/>
        </p:nvSpPr>
        <p:spPr>
          <a:xfrm>
            <a:off x="365760" y="1143000"/>
            <a:ext cx="36360" cy="65808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Text 6"/>
          <p:cNvSpPr/>
          <p:nvPr/>
        </p:nvSpPr>
        <p:spPr>
          <a:xfrm>
            <a:off x="502920" y="123444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b82f6"/>
                </a:solidFill>
                <a:latin typeface="Calibri"/>
                <a:ea typeface="Calibri"/>
              </a:rPr>
              <a:t>01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7"/>
          <p:cNvSpPr/>
          <p:nvPr/>
        </p:nvSpPr>
        <p:spPr>
          <a:xfrm>
            <a:off x="914400" y="121608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Problem Statement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8"/>
          <p:cNvSpPr/>
          <p:nvPr/>
        </p:nvSpPr>
        <p:spPr>
          <a:xfrm>
            <a:off x="914400" y="147204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The gap CareerLens fills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9"/>
          <p:cNvSpPr/>
          <p:nvPr/>
        </p:nvSpPr>
        <p:spPr>
          <a:xfrm>
            <a:off x="365760" y="1901880"/>
            <a:ext cx="4160160" cy="65808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Shape 10"/>
          <p:cNvSpPr/>
          <p:nvPr/>
        </p:nvSpPr>
        <p:spPr>
          <a:xfrm>
            <a:off x="365760" y="1901880"/>
            <a:ext cx="36360" cy="65808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Text 11"/>
          <p:cNvSpPr/>
          <p:nvPr/>
        </p:nvSpPr>
        <p:spPr>
          <a:xfrm>
            <a:off x="502920" y="199332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b82f6"/>
                </a:solidFill>
                <a:latin typeface="Calibri"/>
                <a:ea typeface="Calibri"/>
              </a:rPr>
              <a:t>02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12"/>
          <p:cNvSpPr/>
          <p:nvPr/>
        </p:nvSpPr>
        <p:spPr>
          <a:xfrm>
            <a:off x="914400" y="197496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System Architecture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13"/>
          <p:cNvSpPr/>
          <p:nvPr/>
        </p:nvSpPr>
        <p:spPr>
          <a:xfrm>
            <a:off x="914400" y="223128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Four-layer modular design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14"/>
          <p:cNvSpPr/>
          <p:nvPr/>
        </p:nvSpPr>
        <p:spPr>
          <a:xfrm>
            <a:off x="365760" y="2660760"/>
            <a:ext cx="4160160" cy="65808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" name="Shape 15"/>
          <p:cNvSpPr/>
          <p:nvPr/>
        </p:nvSpPr>
        <p:spPr>
          <a:xfrm>
            <a:off x="365760" y="2660760"/>
            <a:ext cx="36360" cy="65808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Text 16"/>
          <p:cNvSpPr/>
          <p:nvPr/>
        </p:nvSpPr>
        <p:spPr>
          <a:xfrm>
            <a:off x="502920" y="275220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b82f6"/>
                </a:solidFill>
                <a:latin typeface="Calibri"/>
                <a:ea typeface="Calibri"/>
              </a:rPr>
              <a:t>03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17"/>
          <p:cNvSpPr/>
          <p:nvPr/>
        </p:nvSpPr>
        <p:spPr>
          <a:xfrm>
            <a:off x="914400" y="273420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Technology Stack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18"/>
          <p:cNvSpPr/>
          <p:nvPr/>
        </p:nvSpPr>
        <p:spPr>
          <a:xfrm>
            <a:off x="914400" y="299016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Python · SBERT · Scikit-learn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19"/>
          <p:cNvSpPr/>
          <p:nvPr/>
        </p:nvSpPr>
        <p:spPr>
          <a:xfrm>
            <a:off x="365760" y="3420000"/>
            <a:ext cx="4160160" cy="65808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" name="Shape 20"/>
          <p:cNvSpPr/>
          <p:nvPr/>
        </p:nvSpPr>
        <p:spPr>
          <a:xfrm>
            <a:off x="365760" y="3420000"/>
            <a:ext cx="36360" cy="65808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Text 21"/>
          <p:cNvSpPr/>
          <p:nvPr/>
        </p:nvSpPr>
        <p:spPr>
          <a:xfrm>
            <a:off x="502920" y="351144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b82f6"/>
                </a:solidFill>
                <a:latin typeface="Calibri"/>
                <a:ea typeface="Calibri"/>
              </a:rPr>
              <a:t>04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22"/>
          <p:cNvSpPr/>
          <p:nvPr/>
        </p:nvSpPr>
        <p:spPr>
          <a:xfrm>
            <a:off x="914400" y="349308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AI Matcher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23"/>
          <p:cNvSpPr/>
          <p:nvPr/>
        </p:nvSpPr>
        <p:spPr>
          <a:xfrm>
            <a:off x="914400" y="374904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Semantic search + Compass Quiz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24"/>
          <p:cNvSpPr/>
          <p:nvPr/>
        </p:nvSpPr>
        <p:spPr>
          <a:xfrm>
            <a:off x="365760" y="4178880"/>
            <a:ext cx="4160160" cy="65808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Shape 25"/>
          <p:cNvSpPr/>
          <p:nvPr/>
        </p:nvSpPr>
        <p:spPr>
          <a:xfrm>
            <a:off x="365760" y="4178880"/>
            <a:ext cx="36360" cy="65808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Text 26"/>
          <p:cNvSpPr/>
          <p:nvPr/>
        </p:nvSpPr>
        <p:spPr>
          <a:xfrm>
            <a:off x="502920" y="427032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b82f6"/>
                </a:solidFill>
                <a:latin typeface="Calibri"/>
                <a:ea typeface="Calibri"/>
              </a:rPr>
              <a:t>05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27"/>
          <p:cNvSpPr/>
          <p:nvPr/>
        </p:nvSpPr>
        <p:spPr>
          <a:xfrm>
            <a:off x="914400" y="425196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Readiness Assessment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28"/>
          <p:cNvSpPr/>
          <p:nvPr/>
        </p:nvSpPr>
        <p:spPr>
          <a:xfrm>
            <a:off x="914400" y="450792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Predictive scoring model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29"/>
          <p:cNvSpPr/>
          <p:nvPr/>
        </p:nvSpPr>
        <p:spPr>
          <a:xfrm>
            <a:off x="4800600" y="1143000"/>
            <a:ext cx="4160160" cy="65808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Shape 30"/>
          <p:cNvSpPr/>
          <p:nvPr/>
        </p:nvSpPr>
        <p:spPr>
          <a:xfrm>
            <a:off x="4800600" y="1143000"/>
            <a:ext cx="36360" cy="65808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Text 31"/>
          <p:cNvSpPr/>
          <p:nvPr/>
        </p:nvSpPr>
        <p:spPr>
          <a:xfrm>
            <a:off x="4937760" y="123444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b82f6"/>
                </a:solidFill>
                <a:latin typeface="Calibri"/>
                <a:ea typeface="Calibri"/>
              </a:rPr>
              <a:t>06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32"/>
          <p:cNvSpPr/>
          <p:nvPr/>
        </p:nvSpPr>
        <p:spPr>
          <a:xfrm>
            <a:off x="5349240" y="121608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Career Directory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33"/>
          <p:cNvSpPr/>
          <p:nvPr/>
        </p:nvSpPr>
        <p:spPr>
          <a:xfrm>
            <a:off x="5349240" y="147204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74+ filterable professions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Shape 34"/>
          <p:cNvSpPr/>
          <p:nvPr/>
        </p:nvSpPr>
        <p:spPr>
          <a:xfrm>
            <a:off x="4800600" y="1901880"/>
            <a:ext cx="4160160" cy="65808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Shape 35"/>
          <p:cNvSpPr/>
          <p:nvPr/>
        </p:nvSpPr>
        <p:spPr>
          <a:xfrm>
            <a:off x="4800600" y="1901880"/>
            <a:ext cx="36360" cy="65808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Text 36"/>
          <p:cNvSpPr/>
          <p:nvPr/>
        </p:nvSpPr>
        <p:spPr>
          <a:xfrm>
            <a:off x="4937760" y="199332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b82f6"/>
                </a:solidFill>
                <a:latin typeface="Calibri"/>
                <a:ea typeface="Calibri"/>
              </a:rPr>
              <a:t>07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37"/>
          <p:cNvSpPr/>
          <p:nvPr/>
        </p:nvSpPr>
        <p:spPr>
          <a:xfrm>
            <a:off x="5349240" y="197496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Career Comparison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38"/>
          <p:cNvSpPr/>
          <p:nvPr/>
        </p:nvSpPr>
        <p:spPr>
          <a:xfrm>
            <a:off x="5349240" y="223128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Side-by-side salary &amp; education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Shape 39"/>
          <p:cNvSpPr/>
          <p:nvPr/>
        </p:nvSpPr>
        <p:spPr>
          <a:xfrm>
            <a:off x="4800600" y="2660760"/>
            <a:ext cx="4160160" cy="65808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" name="Shape 40"/>
          <p:cNvSpPr/>
          <p:nvPr/>
        </p:nvSpPr>
        <p:spPr>
          <a:xfrm>
            <a:off x="4800600" y="2660760"/>
            <a:ext cx="36360" cy="65808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Text 41"/>
          <p:cNvSpPr/>
          <p:nvPr/>
        </p:nvSpPr>
        <p:spPr>
          <a:xfrm>
            <a:off x="4937760" y="275220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b82f6"/>
                </a:solidFill>
                <a:latin typeface="Calibri"/>
                <a:ea typeface="Calibri"/>
              </a:rPr>
              <a:t>08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42"/>
          <p:cNvSpPr/>
          <p:nvPr/>
        </p:nvSpPr>
        <p:spPr>
          <a:xfrm>
            <a:off x="5349240" y="273420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Datasets &amp; Models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43"/>
          <p:cNvSpPr/>
          <p:nvPr/>
        </p:nvSpPr>
        <p:spPr>
          <a:xfrm>
            <a:off x="5349240" y="299016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Training data and ML artifacts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44"/>
          <p:cNvSpPr/>
          <p:nvPr/>
        </p:nvSpPr>
        <p:spPr>
          <a:xfrm>
            <a:off x="4800600" y="3420000"/>
            <a:ext cx="4160160" cy="65808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Shape 45"/>
          <p:cNvSpPr/>
          <p:nvPr/>
        </p:nvSpPr>
        <p:spPr>
          <a:xfrm>
            <a:off x="4800600" y="3420000"/>
            <a:ext cx="36360" cy="65808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Text 46"/>
          <p:cNvSpPr/>
          <p:nvPr/>
        </p:nvSpPr>
        <p:spPr>
          <a:xfrm>
            <a:off x="4937760" y="351144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b82f6"/>
                </a:solidFill>
                <a:latin typeface="Calibri"/>
                <a:ea typeface="Calibri"/>
              </a:rPr>
              <a:t>09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47"/>
          <p:cNvSpPr/>
          <p:nvPr/>
        </p:nvSpPr>
        <p:spPr>
          <a:xfrm>
            <a:off x="5349240" y="349308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UX &amp; HCI Design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48"/>
          <p:cNvSpPr/>
          <p:nvPr/>
        </p:nvSpPr>
        <p:spPr>
          <a:xfrm>
            <a:off x="5349240" y="374904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Minimalist glassmorphism UI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Shape 49"/>
          <p:cNvSpPr/>
          <p:nvPr/>
        </p:nvSpPr>
        <p:spPr>
          <a:xfrm>
            <a:off x="4800600" y="4178880"/>
            <a:ext cx="4160160" cy="65808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Shape 50"/>
          <p:cNvSpPr/>
          <p:nvPr/>
        </p:nvSpPr>
        <p:spPr>
          <a:xfrm>
            <a:off x="4800600" y="4178880"/>
            <a:ext cx="36360" cy="65808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Text 51"/>
          <p:cNvSpPr/>
          <p:nvPr/>
        </p:nvSpPr>
        <p:spPr>
          <a:xfrm>
            <a:off x="4937760" y="427032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b82f6"/>
                </a:solidFill>
                <a:latin typeface="Calibri"/>
                <a:ea typeface="Calibri"/>
              </a:rPr>
              <a:t>10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52"/>
          <p:cNvSpPr/>
          <p:nvPr/>
        </p:nvSpPr>
        <p:spPr>
          <a:xfrm>
            <a:off x="5349240" y="425196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Conclusion &amp; Future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53"/>
          <p:cNvSpPr/>
          <p:nvPr/>
        </p:nvSpPr>
        <p:spPr>
          <a:xfrm>
            <a:off x="5349240" y="450792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Results and next steps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e53e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" name="Text 1"/>
          <p:cNvSpPr/>
          <p:nvPr/>
        </p:nvSpPr>
        <p:spPr>
          <a:xfrm>
            <a:off x="457200" y="25596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98" strike="noStrike">
                <a:solidFill>
                  <a:srgbClr val="3b82f6"/>
                </a:solidFill>
                <a:latin typeface="Calibri"/>
                <a:ea typeface="Calibri"/>
              </a:rPr>
              <a:t>PROBLEM STATEMENT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2"/>
          <p:cNvSpPr/>
          <p:nvPr/>
        </p:nvSpPr>
        <p:spPr>
          <a:xfrm>
            <a:off x="7955280" y="484632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3 / 14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3"/>
          <p:cNvSpPr/>
          <p:nvPr/>
        </p:nvSpPr>
        <p:spPr>
          <a:xfrm>
            <a:off x="457200" y="5029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The Gap We're Solving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Shape 4"/>
          <p:cNvSpPr/>
          <p:nvPr/>
        </p:nvSpPr>
        <p:spPr>
          <a:xfrm>
            <a:off x="457200" y="1188720"/>
            <a:ext cx="8229240" cy="100548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Shape 5"/>
          <p:cNvSpPr/>
          <p:nvPr/>
        </p:nvSpPr>
        <p:spPr>
          <a:xfrm>
            <a:off x="457200" y="1188720"/>
            <a:ext cx="45360" cy="100548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0" name="Image 0" descr="preencoded.png"/>
          <p:cNvPicPr/>
          <p:nvPr/>
        </p:nvPicPr>
        <p:blipFill>
          <a:blip r:embed="rId1"/>
          <a:stretch/>
        </p:blipFill>
        <p:spPr>
          <a:xfrm>
            <a:off x="685800" y="146304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91" name="Text 6"/>
          <p:cNvSpPr/>
          <p:nvPr/>
        </p:nvSpPr>
        <p:spPr>
          <a:xfrm>
            <a:off x="1280160" y="1280160"/>
            <a:ext cx="7131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No Localized Guidance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7"/>
          <p:cNvSpPr/>
          <p:nvPr/>
        </p:nvSpPr>
        <p:spPr>
          <a:xfrm>
            <a:off x="1280160" y="1627560"/>
            <a:ext cx="7131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Existing tools ignore Pakistani universities, FSc/ICS pathways, and regional salary data.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Shape 8"/>
          <p:cNvSpPr/>
          <p:nvPr/>
        </p:nvSpPr>
        <p:spPr>
          <a:xfrm>
            <a:off x="457200" y="2377440"/>
            <a:ext cx="8229240" cy="100548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4" name="Shape 9"/>
          <p:cNvSpPr/>
          <p:nvPr/>
        </p:nvSpPr>
        <p:spPr>
          <a:xfrm>
            <a:off x="457200" y="2377440"/>
            <a:ext cx="45360" cy="1005480"/>
          </a:xfrm>
          <a:prstGeom prst="rect">
            <a:avLst/>
          </a:prstGeom>
          <a:solidFill>
            <a:srgbClr val="e53e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5" name="Image 1" descr="preencoded.png"/>
          <p:cNvPicPr/>
          <p:nvPr/>
        </p:nvPicPr>
        <p:blipFill>
          <a:blip r:embed="rId2"/>
          <a:stretch/>
        </p:blipFill>
        <p:spPr>
          <a:xfrm>
            <a:off x="685800" y="265176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96" name="Text 10"/>
          <p:cNvSpPr/>
          <p:nvPr/>
        </p:nvSpPr>
        <p:spPr>
          <a:xfrm>
            <a:off x="1280160" y="2468880"/>
            <a:ext cx="7131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Market Disconnect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11"/>
          <p:cNvSpPr/>
          <p:nvPr/>
        </p:nvSpPr>
        <p:spPr>
          <a:xfrm>
            <a:off x="1280160" y="2816280"/>
            <a:ext cx="7131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Students choose careers without data on local demand, salaries, or required qualifications.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Shape 12"/>
          <p:cNvSpPr/>
          <p:nvPr/>
        </p:nvSpPr>
        <p:spPr>
          <a:xfrm>
            <a:off x="457200" y="3566160"/>
            <a:ext cx="8229240" cy="100548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" name="Shape 13"/>
          <p:cNvSpPr/>
          <p:nvPr/>
        </p:nvSpPr>
        <p:spPr>
          <a:xfrm>
            <a:off x="457200" y="3566160"/>
            <a:ext cx="45360" cy="1005480"/>
          </a:xfrm>
          <a:prstGeom prst="rect">
            <a:avLst/>
          </a:prstGeom>
          <a:solidFill>
            <a:srgbClr val="ecc9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0" name="Image 2" descr="preencoded.png"/>
          <p:cNvPicPr/>
          <p:nvPr/>
        </p:nvPicPr>
        <p:blipFill>
          <a:blip r:embed="rId3"/>
          <a:stretch/>
        </p:blipFill>
        <p:spPr>
          <a:xfrm>
            <a:off x="685800" y="384048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101" name="Text 14"/>
          <p:cNvSpPr/>
          <p:nvPr/>
        </p:nvSpPr>
        <p:spPr>
          <a:xfrm>
            <a:off x="1280160" y="3657600"/>
            <a:ext cx="7131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Generic Advice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15"/>
          <p:cNvSpPr/>
          <p:nvPr/>
        </p:nvSpPr>
        <p:spPr>
          <a:xfrm>
            <a:off x="1280160" y="4005000"/>
            <a:ext cx="7131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International platforms fail to account for Pakistan's education system and job market realities.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457200" y="25596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98" strike="noStrike">
                <a:solidFill>
                  <a:srgbClr val="3b82f6"/>
                </a:solidFill>
                <a:latin typeface="Calibri"/>
                <a:ea typeface="Calibri"/>
              </a:rPr>
              <a:t>SOLUTION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2"/>
          <p:cNvSpPr/>
          <p:nvPr/>
        </p:nvSpPr>
        <p:spPr>
          <a:xfrm>
            <a:off x="7955280" y="484632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4 / 14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3"/>
          <p:cNvSpPr/>
          <p:nvPr/>
        </p:nvSpPr>
        <p:spPr>
          <a:xfrm>
            <a:off x="457200" y="5029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CareerLens: What We Built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4"/>
          <p:cNvSpPr/>
          <p:nvPr/>
        </p:nvSpPr>
        <p:spPr>
          <a:xfrm>
            <a:off x="457200" y="100584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94a3b8"/>
                </a:solidFill>
                <a:latin typeface="Calibri"/>
                <a:ea typeface="Calibri"/>
              </a:rPr>
              <a:t>A full-stack AI career guidance platform tailored 100% to Pakistan.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Shape 5"/>
          <p:cNvSpPr/>
          <p:nvPr/>
        </p:nvSpPr>
        <p:spPr>
          <a:xfrm>
            <a:off x="320040" y="1508760"/>
            <a:ext cx="2011320" cy="255996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9" name="Shape 6"/>
          <p:cNvSpPr/>
          <p:nvPr/>
        </p:nvSpPr>
        <p:spPr>
          <a:xfrm>
            <a:off x="320040" y="1508760"/>
            <a:ext cx="2011320" cy="453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0" name="Image 0" descr="preencoded.png"/>
          <p:cNvPicPr/>
          <p:nvPr/>
        </p:nvPicPr>
        <p:blipFill>
          <a:blip r:embed="rId1"/>
          <a:stretch/>
        </p:blipFill>
        <p:spPr>
          <a:xfrm>
            <a:off x="1051560" y="17830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111" name="Text 7"/>
          <p:cNvSpPr/>
          <p:nvPr/>
        </p:nvSpPr>
        <p:spPr>
          <a:xfrm>
            <a:off x="411480" y="246888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AI Matching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8"/>
          <p:cNvSpPr/>
          <p:nvPr/>
        </p:nvSpPr>
        <p:spPr>
          <a:xfrm>
            <a:off x="411480" y="2834640"/>
            <a:ext cx="1828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SBERT semantic search + KNN classification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Shape 9"/>
          <p:cNvSpPr/>
          <p:nvPr/>
        </p:nvSpPr>
        <p:spPr>
          <a:xfrm>
            <a:off x="2468880" y="1508760"/>
            <a:ext cx="2011320" cy="255996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4" name="Shape 10"/>
          <p:cNvSpPr/>
          <p:nvPr/>
        </p:nvSpPr>
        <p:spPr>
          <a:xfrm>
            <a:off x="2468880" y="1508760"/>
            <a:ext cx="2011320" cy="4536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5" name="Image 1" descr="preencoded.png"/>
          <p:cNvPicPr/>
          <p:nvPr/>
        </p:nvPicPr>
        <p:blipFill>
          <a:blip r:embed="rId2"/>
          <a:stretch/>
        </p:blipFill>
        <p:spPr>
          <a:xfrm>
            <a:off x="3200400" y="17830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116" name="Text 11"/>
          <p:cNvSpPr/>
          <p:nvPr/>
        </p:nvSpPr>
        <p:spPr>
          <a:xfrm>
            <a:off x="2560320" y="246888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Readiness Score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12"/>
          <p:cNvSpPr/>
          <p:nvPr/>
        </p:nvSpPr>
        <p:spPr>
          <a:xfrm>
            <a:off x="2560320" y="2834640"/>
            <a:ext cx="1828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Linear regression across 5 career dimensions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Shape 13"/>
          <p:cNvSpPr/>
          <p:nvPr/>
        </p:nvSpPr>
        <p:spPr>
          <a:xfrm>
            <a:off x="4617720" y="1508760"/>
            <a:ext cx="2011320" cy="255996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9" name="Shape 14"/>
          <p:cNvSpPr/>
          <p:nvPr/>
        </p:nvSpPr>
        <p:spPr>
          <a:xfrm>
            <a:off x="4617720" y="1508760"/>
            <a:ext cx="2011320" cy="4536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20" name="Image 2" descr="preencoded.png"/>
          <p:cNvPicPr/>
          <p:nvPr/>
        </p:nvPicPr>
        <p:blipFill>
          <a:blip r:embed="rId3"/>
          <a:stretch/>
        </p:blipFill>
        <p:spPr>
          <a:xfrm>
            <a:off x="5349240" y="17830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121" name="Text 15"/>
          <p:cNvSpPr/>
          <p:nvPr/>
        </p:nvSpPr>
        <p:spPr>
          <a:xfrm>
            <a:off x="4709160" y="246888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Career Directory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16"/>
          <p:cNvSpPr/>
          <p:nvPr/>
        </p:nvSpPr>
        <p:spPr>
          <a:xfrm>
            <a:off x="4709160" y="2834640"/>
            <a:ext cx="1828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74 professions with full educational roadmaps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17"/>
          <p:cNvSpPr/>
          <p:nvPr/>
        </p:nvSpPr>
        <p:spPr>
          <a:xfrm>
            <a:off x="6766560" y="1508760"/>
            <a:ext cx="2011320" cy="255996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4" name="Shape 18"/>
          <p:cNvSpPr/>
          <p:nvPr/>
        </p:nvSpPr>
        <p:spPr>
          <a:xfrm>
            <a:off x="6766560" y="1508760"/>
            <a:ext cx="2011320" cy="45360"/>
          </a:xfrm>
          <a:prstGeom prst="rect">
            <a:avLst/>
          </a:prstGeom>
          <a:solidFill>
            <a:srgbClr val="ecc9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25" name="Image 3" descr="preencoded.png"/>
          <p:cNvPicPr/>
          <p:nvPr/>
        </p:nvPicPr>
        <p:blipFill>
          <a:blip r:embed="rId4"/>
          <a:stretch/>
        </p:blipFill>
        <p:spPr>
          <a:xfrm>
            <a:off x="7498080" y="17830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126" name="Text 19"/>
          <p:cNvSpPr/>
          <p:nvPr/>
        </p:nvSpPr>
        <p:spPr>
          <a:xfrm>
            <a:off x="6858000" y="246888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Comparison Tool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20"/>
          <p:cNvSpPr/>
          <p:nvPr/>
        </p:nvSpPr>
        <p:spPr>
          <a:xfrm>
            <a:off x="6858000" y="2834640"/>
            <a:ext cx="1828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Side-by-side salary &amp; education analysis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21"/>
          <p:cNvSpPr/>
          <p:nvPr/>
        </p:nvSpPr>
        <p:spPr>
          <a:xfrm>
            <a:off x="320040" y="4297680"/>
            <a:ext cx="8503560" cy="548280"/>
          </a:xfrm>
          <a:prstGeom prst="rect">
            <a:avLst/>
          </a:prstGeom>
          <a:solidFill>
            <a:srgbClr val="0d1b3e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9" name="Text 22"/>
          <p:cNvSpPr/>
          <p:nvPr/>
        </p:nvSpPr>
        <p:spPr>
          <a:xfrm>
            <a:off x="457200" y="44074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97" strike="noStrike">
                <a:solidFill>
                  <a:srgbClr val="06b6d4"/>
                </a:solidFill>
                <a:latin typeface="Calibri"/>
                <a:ea typeface="Calibri"/>
              </a:rPr>
              <a:t>Built with Python · Streamlit · Sentence-BERT · Scikit-learn · Plotly · Altair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1" name="Text 1"/>
          <p:cNvSpPr/>
          <p:nvPr/>
        </p:nvSpPr>
        <p:spPr>
          <a:xfrm>
            <a:off x="457200" y="25596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98" strike="noStrike">
                <a:solidFill>
                  <a:srgbClr val="3b82f6"/>
                </a:solidFill>
                <a:latin typeface="Calibri"/>
                <a:ea typeface="Calibri"/>
              </a:rPr>
              <a:t>ARCHITECTURE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2"/>
          <p:cNvSpPr/>
          <p:nvPr/>
        </p:nvSpPr>
        <p:spPr>
          <a:xfrm>
            <a:off x="7955280" y="484632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5 / 14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3"/>
          <p:cNvSpPr/>
          <p:nvPr/>
        </p:nvSpPr>
        <p:spPr>
          <a:xfrm>
            <a:off x="457200" y="5029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System Architecture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Shape 4"/>
          <p:cNvSpPr/>
          <p:nvPr/>
        </p:nvSpPr>
        <p:spPr>
          <a:xfrm>
            <a:off x="457200" y="1051560"/>
            <a:ext cx="8229240" cy="68544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5" name="Shape 5"/>
          <p:cNvSpPr/>
          <p:nvPr/>
        </p:nvSpPr>
        <p:spPr>
          <a:xfrm>
            <a:off x="457200" y="1051560"/>
            <a:ext cx="54360" cy="68544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6" name="Text 6"/>
          <p:cNvSpPr/>
          <p:nvPr/>
        </p:nvSpPr>
        <p:spPr>
          <a:xfrm>
            <a:off x="658440" y="109728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99" strike="noStrike">
                <a:solidFill>
                  <a:srgbClr val="3b82f6"/>
                </a:solidFill>
                <a:latin typeface="Calibri"/>
                <a:ea typeface="Calibri"/>
              </a:rPr>
              <a:t>FRONTEND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7"/>
          <p:cNvSpPr/>
          <p:nvPr/>
        </p:nvSpPr>
        <p:spPr>
          <a:xfrm>
            <a:off x="658440" y="136260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app.py + pages/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8"/>
          <p:cNvSpPr/>
          <p:nvPr/>
        </p:nvSpPr>
        <p:spPr>
          <a:xfrm>
            <a:off x="2377440" y="1234440"/>
            <a:ext cx="6217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Streamlit multi-page routing — Home, AI Matcher, Readiness, Directory, Compare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Shape 9"/>
          <p:cNvSpPr/>
          <p:nvPr/>
        </p:nvSpPr>
        <p:spPr>
          <a:xfrm>
            <a:off x="4389120" y="1737360"/>
            <a:ext cx="360" cy="109440"/>
          </a:xfrm>
          <a:prstGeom prst="line">
            <a:avLst/>
          </a:prstGeom>
          <a:ln w="12700">
            <a:solidFill>
              <a:srgbClr val="6b72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0" name="Shape 10"/>
          <p:cNvSpPr/>
          <p:nvPr/>
        </p:nvSpPr>
        <p:spPr>
          <a:xfrm>
            <a:off x="457200" y="1874520"/>
            <a:ext cx="8229240" cy="68544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1" name="Shape 11"/>
          <p:cNvSpPr/>
          <p:nvPr/>
        </p:nvSpPr>
        <p:spPr>
          <a:xfrm>
            <a:off x="457200" y="1874520"/>
            <a:ext cx="54360" cy="68544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2" name="Text 12"/>
          <p:cNvSpPr/>
          <p:nvPr/>
        </p:nvSpPr>
        <p:spPr>
          <a:xfrm>
            <a:off x="658440" y="192024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99" strike="noStrike">
                <a:solidFill>
                  <a:srgbClr val="06b6d4"/>
                </a:solidFill>
                <a:latin typeface="Calibri"/>
                <a:ea typeface="Calibri"/>
              </a:rPr>
              <a:t>AI CORE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13"/>
          <p:cNvSpPr/>
          <p:nvPr/>
        </p:nvSpPr>
        <p:spPr>
          <a:xfrm>
            <a:off x="658440" y="218556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ml_engine.py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14"/>
          <p:cNvSpPr/>
          <p:nvPr/>
        </p:nvSpPr>
        <p:spPr>
          <a:xfrm>
            <a:off x="2377440" y="2057400"/>
            <a:ext cx="6217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SBERT embeddings · KNN classifier · Linear Regression · @st.cache_resource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Shape 15"/>
          <p:cNvSpPr/>
          <p:nvPr/>
        </p:nvSpPr>
        <p:spPr>
          <a:xfrm>
            <a:off x="4389120" y="2560320"/>
            <a:ext cx="360" cy="109440"/>
          </a:xfrm>
          <a:prstGeom prst="line">
            <a:avLst/>
          </a:prstGeom>
          <a:ln w="12700">
            <a:solidFill>
              <a:srgbClr val="6b72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6" name="Shape 16"/>
          <p:cNvSpPr/>
          <p:nvPr/>
        </p:nvSpPr>
        <p:spPr>
          <a:xfrm>
            <a:off x="457200" y="2697480"/>
            <a:ext cx="8229240" cy="68544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7" name="Shape 17"/>
          <p:cNvSpPr/>
          <p:nvPr/>
        </p:nvSpPr>
        <p:spPr>
          <a:xfrm>
            <a:off x="457200" y="2697480"/>
            <a:ext cx="54360" cy="68544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8" name="Text 18"/>
          <p:cNvSpPr/>
          <p:nvPr/>
        </p:nvSpPr>
        <p:spPr>
          <a:xfrm>
            <a:off x="658440" y="274320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99" strike="noStrike">
                <a:solidFill>
                  <a:srgbClr val="a78bfa"/>
                </a:solidFill>
                <a:latin typeface="Calibri"/>
                <a:ea typeface="Calibri"/>
              </a:rPr>
              <a:t>DESIGN SYSTEM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19"/>
          <p:cNvSpPr/>
          <p:nvPr/>
        </p:nvSpPr>
        <p:spPr>
          <a:xfrm>
            <a:off x="658440" y="300852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ui_components.py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20"/>
          <p:cNvSpPr/>
          <p:nvPr/>
        </p:nvSpPr>
        <p:spPr>
          <a:xfrm>
            <a:off x="2377440" y="2880360"/>
            <a:ext cx="6217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Global CSS · Glassmorphism theme · Reusable render_card() component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Shape 21"/>
          <p:cNvSpPr/>
          <p:nvPr/>
        </p:nvSpPr>
        <p:spPr>
          <a:xfrm>
            <a:off x="4389120" y="3383280"/>
            <a:ext cx="360" cy="109440"/>
          </a:xfrm>
          <a:prstGeom prst="line">
            <a:avLst/>
          </a:prstGeom>
          <a:ln w="12700">
            <a:solidFill>
              <a:srgbClr val="6b72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2" name="Shape 22"/>
          <p:cNvSpPr/>
          <p:nvPr/>
        </p:nvSpPr>
        <p:spPr>
          <a:xfrm>
            <a:off x="457200" y="3520440"/>
            <a:ext cx="8229240" cy="68544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3" name="Shape 23"/>
          <p:cNvSpPr/>
          <p:nvPr/>
        </p:nvSpPr>
        <p:spPr>
          <a:xfrm>
            <a:off x="457200" y="3520440"/>
            <a:ext cx="54360" cy="685440"/>
          </a:xfrm>
          <a:prstGeom prst="rect">
            <a:avLst/>
          </a:prstGeom>
          <a:solidFill>
            <a:srgbClr val="ecc9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4" name="Text 24"/>
          <p:cNvSpPr/>
          <p:nvPr/>
        </p:nvSpPr>
        <p:spPr>
          <a:xfrm>
            <a:off x="658440" y="356616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99" strike="noStrike">
                <a:solidFill>
                  <a:srgbClr val="ecc94b"/>
                </a:solidFill>
                <a:latin typeface="Calibri"/>
                <a:ea typeface="Calibri"/>
              </a:rPr>
              <a:t>DATA LAYER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25"/>
          <p:cNvSpPr/>
          <p:nvPr/>
        </p:nvSpPr>
        <p:spPr>
          <a:xfrm>
            <a:off x="658440" y="383148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data/ + models/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26"/>
          <p:cNvSpPr/>
          <p:nvPr/>
        </p:nvSpPr>
        <p:spPr>
          <a:xfrm>
            <a:off x="2377440" y="3703320"/>
            <a:ext cx="6217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careers_pakistan.csv · training_dataset.csv · .pkl models · salary JSON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8" name="Text 1"/>
          <p:cNvSpPr/>
          <p:nvPr/>
        </p:nvSpPr>
        <p:spPr>
          <a:xfrm>
            <a:off x="457200" y="25596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98" strike="noStrike">
                <a:solidFill>
                  <a:srgbClr val="3b82f6"/>
                </a:solidFill>
                <a:latin typeface="Calibri"/>
                <a:ea typeface="Calibri"/>
              </a:rPr>
              <a:t>TECHNOLOGY STACK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2"/>
          <p:cNvSpPr/>
          <p:nvPr/>
        </p:nvSpPr>
        <p:spPr>
          <a:xfrm>
            <a:off x="7955280" y="484632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6 / 14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3"/>
          <p:cNvSpPr/>
          <p:nvPr/>
        </p:nvSpPr>
        <p:spPr>
          <a:xfrm>
            <a:off x="457200" y="5029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Tech Stack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Shape 4"/>
          <p:cNvSpPr/>
          <p:nvPr/>
        </p:nvSpPr>
        <p:spPr>
          <a:xfrm>
            <a:off x="365760" y="1143000"/>
            <a:ext cx="2651400" cy="150840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2" name="Shape 5"/>
          <p:cNvSpPr/>
          <p:nvPr/>
        </p:nvSpPr>
        <p:spPr>
          <a:xfrm>
            <a:off x="365760" y="1143000"/>
            <a:ext cx="2651400" cy="453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3" name="Text 6"/>
          <p:cNvSpPr/>
          <p:nvPr/>
        </p:nvSpPr>
        <p:spPr>
          <a:xfrm>
            <a:off x="502920" y="128016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99" strike="noStrike">
                <a:solidFill>
                  <a:srgbClr val="3b82f6"/>
                </a:solidFill>
                <a:latin typeface="Calibri"/>
                <a:ea typeface="Calibri"/>
              </a:rPr>
              <a:t>Web Framework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7"/>
          <p:cNvSpPr/>
          <p:nvPr/>
        </p:nvSpPr>
        <p:spPr>
          <a:xfrm>
            <a:off x="502920" y="155448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Streamlit 1.57+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8"/>
          <p:cNvSpPr/>
          <p:nvPr/>
        </p:nvSpPr>
        <p:spPr>
          <a:xfrm>
            <a:off x="502920" y="1965960"/>
            <a:ext cx="2377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Multi-page routing &amp; widget system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Shape 9"/>
          <p:cNvSpPr/>
          <p:nvPr/>
        </p:nvSpPr>
        <p:spPr>
          <a:xfrm>
            <a:off x="3200400" y="1143000"/>
            <a:ext cx="2651400" cy="150840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7" name="Shape 10"/>
          <p:cNvSpPr/>
          <p:nvPr/>
        </p:nvSpPr>
        <p:spPr>
          <a:xfrm>
            <a:off x="3200400" y="1143000"/>
            <a:ext cx="2651400" cy="4536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8" name="Text 11"/>
          <p:cNvSpPr/>
          <p:nvPr/>
        </p:nvSpPr>
        <p:spPr>
          <a:xfrm>
            <a:off x="3337560" y="128016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99" strike="noStrike">
                <a:solidFill>
                  <a:srgbClr val="06b6d4"/>
                </a:solidFill>
                <a:latin typeface="Calibri"/>
                <a:ea typeface="Calibri"/>
              </a:rPr>
              <a:t>NLP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12"/>
          <p:cNvSpPr/>
          <p:nvPr/>
        </p:nvSpPr>
        <p:spPr>
          <a:xfrm>
            <a:off x="3337560" y="155448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Sentence-BERT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13"/>
          <p:cNvSpPr/>
          <p:nvPr/>
        </p:nvSpPr>
        <p:spPr>
          <a:xfrm>
            <a:off x="3337560" y="1965960"/>
            <a:ext cx="2377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384-dim semantic text encoding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Shape 14"/>
          <p:cNvSpPr/>
          <p:nvPr/>
        </p:nvSpPr>
        <p:spPr>
          <a:xfrm>
            <a:off x="6035040" y="1143000"/>
            <a:ext cx="2651400" cy="150840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2" name="Shape 15"/>
          <p:cNvSpPr/>
          <p:nvPr/>
        </p:nvSpPr>
        <p:spPr>
          <a:xfrm>
            <a:off x="6035040" y="1143000"/>
            <a:ext cx="2651400" cy="4536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3" name="Text 16"/>
          <p:cNvSpPr/>
          <p:nvPr/>
        </p:nvSpPr>
        <p:spPr>
          <a:xfrm>
            <a:off x="6172200" y="128016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99" strike="noStrike">
                <a:solidFill>
                  <a:srgbClr val="a78bfa"/>
                </a:solidFill>
                <a:latin typeface="Calibri"/>
                <a:ea typeface="Calibri"/>
              </a:rPr>
              <a:t>ML Classification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17"/>
          <p:cNvSpPr/>
          <p:nvPr/>
        </p:nvSpPr>
        <p:spPr>
          <a:xfrm>
            <a:off x="6172200" y="155448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Scikit-learn KNN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18"/>
          <p:cNvSpPr/>
          <p:nvPr/>
        </p:nvSpPr>
        <p:spPr>
          <a:xfrm>
            <a:off x="6172200" y="1965960"/>
            <a:ext cx="2377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Career category prediction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Shape 19"/>
          <p:cNvSpPr/>
          <p:nvPr/>
        </p:nvSpPr>
        <p:spPr>
          <a:xfrm>
            <a:off x="365760" y="2880360"/>
            <a:ext cx="2651400" cy="150840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7" name="Shape 20"/>
          <p:cNvSpPr/>
          <p:nvPr/>
        </p:nvSpPr>
        <p:spPr>
          <a:xfrm>
            <a:off x="365760" y="2880360"/>
            <a:ext cx="2651400" cy="45360"/>
          </a:xfrm>
          <a:prstGeom prst="rect">
            <a:avLst/>
          </a:prstGeom>
          <a:solidFill>
            <a:srgbClr val="ecc9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8" name="Text 21"/>
          <p:cNvSpPr/>
          <p:nvPr/>
        </p:nvSpPr>
        <p:spPr>
          <a:xfrm>
            <a:off x="502920" y="301752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99" strike="noStrike">
                <a:solidFill>
                  <a:srgbClr val="ecc94b"/>
                </a:solidFill>
                <a:latin typeface="Calibri"/>
                <a:ea typeface="Calibri"/>
              </a:rPr>
              <a:t>ML Regression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22"/>
          <p:cNvSpPr/>
          <p:nvPr/>
        </p:nvSpPr>
        <p:spPr>
          <a:xfrm>
            <a:off x="502920" y="329184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Scikit-learn Linear Reg.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23"/>
          <p:cNvSpPr/>
          <p:nvPr/>
        </p:nvSpPr>
        <p:spPr>
          <a:xfrm>
            <a:off x="502920" y="3703320"/>
            <a:ext cx="2377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Readiness score prediction (0–100%)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Shape 24"/>
          <p:cNvSpPr/>
          <p:nvPr/>
        </p:nvSpPr>
        <p:spPr>
          <a:xfrm>
            <a:off x="3200400" y="2880360"/>
            <a:ext cx="2651400" cy="150840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2" name="Shape 25"/>
          <p:cNvSpPr/>
          <p:nvPr/>
        </p:nvSpPr>
        <p:spPr>
          <a:xfrm>
            <a:off x="3200400" y="2880360"/>
            <a:ext cx="2651400" cy="45360"/>
          </a:xfrm>
          <a:prstGeom prst="rect">
            <a:avLst/>
          </a:prstGeom>
          <a:solidFill>
            <a:srgbClr val="f687b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3" name="Text 26"/>
          <p:cNvSpPr/>
          <p:nvPr/>
        </p:nvSpPr>
        <p:spPr>
          <a:xfrm>
            <a:off x="3337560" y="301752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99" strike="noStrike">
                <a:solidFill>
                  <a:srgbClr val="f687b3"/>
                </a:solidFill>
                <a:latin typeface="Calibri"/>
                <a:ea typeface="Calibri"/>
              </a:rPr>
              <a:t>Visualization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27"/>
          <p:cNvSpPr/>
          <p:nvPr/>
        </p:nvSpPr>
        <p:spPr>
          <a:xfrm>
            <a:off x="3337560" y="329184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Plotly + Altair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28"/>
          <p:cNvSpPr/>
          <p:nvPr/>
        </p:nvSpPr>
        <p:spPr>
          <a:xfrm>
            <a:off x="3337560" y="3703320"/>
            <a:ext cx="2377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Gauge charts &amp; salary bar charts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Shape 29"/>
          <p:cNvSpPr/>
          <p:nvPr/>
        </p:nvSpPr>
        <p:spPr>
          <a:xfrm>
            <a:off x="6035040" y="2880360"/>
            <a:ext cx="2651400" cy="150840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7" name="Shape 30"/>
          <p:cNvSpPr/>
          <p:nvPr/>
        </p:nvSpPr>
        <p:spPr>
          <a:xfrm>
            <a:off x="6035040" y="2880360"/>
            <a:ext cx="2651400" cy="45360"/>
          </a:xfrm>
          <a:prstGeom prst="rect">
            <a:avLst/>
          </a:prstGeom>
          <a:solidFill>
            <a:srgbClr val="68d39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8" name="Text 31"/>
          <p:cNvSpPr/>
          <p:nvPr/>
        </p:nvSpPr>
        <p:spPr>
          <a:xfrm>
            <a:off x="6172200" y="301752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99" strike="noStrike">
                <a:solidFill>
                  <a:srgbClr val="68d391"/>
                </a:solidFill>
                <a:latin typeface="Calibri"/>
                <a:ea typeface="Calibri"/>
              </a:rPr>
              <a:t>Data Processing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32"/>
          <p:cNvSpPr/>
          <p:nvPr/>
        </p:nvSpPr>
        <p:spPr>
          <a:xfrm>
            <a:off x="6172200" y="329184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Pandas + NumPy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33"/>
          <p:cNvSpPr/>
          <p:nvPr/>
        </p:nvSpPr>
        <p:spPr>
          <a:xfrm>
            <a:off x="6172200" y="3703320"/>
            <a:ext cx="2377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Dataset loading &amp; preprocessing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2" name="Text 1"/>
          <p:cNvSpPr/>
          <p:nvPr/>
        </p:nvSpPr>
        <p:spPr>
          <a:xfrm>
            <a:off x="457200" y="25596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98" strike="noStrike">
                <a:solidFill>
                  <a:srgbClr val="3b82f6"/>
                </a:solidFill>
                <a:latin typeface="Calibri"/>
                <a:ea typeface="Calibri"/>
              </a:rPr>
              <a:t>FEATURE 01 — AI MATCHER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2"/>
          <p:cNvSpPr/>
          <p:nvPr/>
        </p:nvSpPr>
        <p:spPr>
          <a:xfrm>
            <a:off x="7955280" y="484632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7 / 14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3"/>
          <p:cNvSpPr/>
          <p:nvPr/>
        </p:nvSpPr>
        <p:spPr>
          <a:xfrm>
            <a:off x="457200" y="5029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AI Career Matcher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Shape 4"/>
          <p:cNvSpPr/>
          <p:nvPr/>
        </p:nvSpPr>
        <p:spPr>
          <a:xfrm>
            <a:off x="365760" y="1097280"/>
            <a:ext cx="4205880" cy="141696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6" name="Shape 5"/>
          <p:cNvSpPr/>
          <p:nvPr/>
        </p:nvSpPr>
        <p:spPr>
          <a:xfrm>
            <a:off x="365760" y="1097280"/>
            <a:ext cx="4205880" cy="543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7" name="Text 6"/>
          <p:cNvSpPr/>
          <p:nvPr/>
        </p:nvSpPr>
        <p:spPr>
          <a:xfrm>
            <a:off x="502920" y="1207080"/>
            <a:ext cx="3931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Path A — Semantic Search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7"/>
          <p:cNvSpPr/>
          <p:nvPr/>
        </p:nvSpPr>
        <p:spPr>
          <a:xfrm>
            <a:off x="502920" y="1554480"/>
            <a:ext cx="3931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User types natural language description of interests.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Sanitized with regex → encoded by SBERT → cosine similarity against 74 careers.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Shape 8"/>
          <p:cNvSpPr/>
          <p:nvPr/>
        </p:nvSpPr>
        <p:spPr>
          <a:xfrm>
            <a:off x="4754880" y="1097280"/>
            <a:ext cx="4205880" cy="141696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0" name="Shape 9"/>
          <p:cNvSpPr/>
          <p:nvPr/>
        </p:nvSpPr>
        <p:spPr>
          <a:xfrm>
            <a:off x="4754880" y="1097280"/>
            <a:ext cx="4205880" cy="5436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1" name="Text 10"/>
          <p:cNvSpPr/>
          <p:nvPr/>
        </p:nvSpPr>
        <p:spPr>
          <a:xfrm>
            <a:off x="4892040" y="1207080"/>
            <a:ext cx="3931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Path B — Compass Quiz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11"/>
          <p:cNvSpPr/>
          <p:nvPr/>
        </p:nvSpPr>
        <p:spPr>
          <a:xfrm>
            <a:off x="4892040" y="1554480"/>
            <a:ext cx="3931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4-question pill-based quiz (Subjects, Style, Environment, Goal).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Answers expand to keyword string → same SBERT pipeline.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12"/>
          <p:cNvSpPr/>
          <p:nvPr/>
        </p:nvSpPr>
        <p:spPr>
          <a:xfrm>
            <a:off x="457200" y="269748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299" strike="noStrike">
                <a:solidFill>
                  <a:srgbClr val="3b82f6"/>
                </a:solidFill>
                <a:latin typeface="Calibri"/>
                <a:ea typeface="Calibri"/>
              </a:rPr>
              <a:t>MATCHING PIPELINE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Shape 13"/>
          <p:cNvSpPr/>
          <p:nvPr/>
        </p:nvSpPr>
        <p:spPr>
          <a:xfrm>
            <a:off x="365760" y="2971800"/>
            <a:ext cx="2011320" cy="150840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5" name="Shape 14"/>
          <p:cNvSpPr/>
          <p:nvPr/>
        </p:nvSpPr>
        <p:spPr>
          <a:xfrm>
            <a:off x="365760" y="2971800"/>
            <a:ext cx="2011320" cy="453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6" name="Text 15"/>
          <p:cNvSpPr/>
          <p:nvPr/>
        </p:nvSpPr>
        <p:spPr>
          <a:xfrm>
            <a:off x="457200" y="30632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3b82f6"/>
                </a:solidFill>
                <a:latin typeface="Calibri"/>
                <a:ea typeface="Calibri"/>
              </a:rPr>
              <a:t>01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16"/>
          <p:cNvSpPr/>
          <p:nvPr/>
        </p:nvSpPr>
        <p:spPr>
          <a:xfrm>
            <a:off x="457200" y="34290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KNN Predict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17"/>
          <p:cNvSpPr/>
          <p:nvPr/>
        </p:nvSpPr>
        <p:spPr>
          <a:xfrm>
            <a:off x="457200" y="374904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Predicts broad career category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Shape 18"/>
          <p:cNvSpPr/>
          <p:nvPr/>
        </p:nvSpPr>
        <p:spPr>
          <a:xfrm>
            <a:off x="2514600" y="2971800"/>
            <a:ext cx="2011320" cy="150840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0" name="Shape 19"/>
          <p:cNvSpPr/>
          <p:nvPr/>
        </p:nvSpPr>
        <p:spPr>
          <a:xfrm>
            <a:off x="2514600" y="2971800"/>
            <a:ext cx="2011320" cy="453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1" name="Text 20"/>
          <p:cNvSpPr/>
          <p:nvPr/>
        </p:nvSpPr>
        <p:spPr>
          <a:xfrm>
            <a:off x="2606040" y="30632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3b82f6"/>
                </a:solidFill>
                <a:latin typeface="Calibri"/>
                <a:ea typeface="Calibri"/>
              </a:rPr>
              <a:t>02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21"/>
          <p:cNvSpPr/>
          <p:nvPr/>
        </p:nvSpPr>
        <p:spPr>
          <a:xfrm>
            <a:off x="2606040" y="34290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Cosine Match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22"/>
          <p:cNvSpPr/>
          <p:nvPr/>
        </p:nvSpPr>
        <p:spPr>
          <a:xfrm>
            <a:off x="2606040" y="374904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Top 3 careers by similarity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Shape 23"/>
          <p:cNvSpPr/>
          <p:nvPr/>
        </p:nvSpPr>
        <p:spPr>
          <a:xfrm>
            <a:off x="4663440" y="2971800"/>
            <a:ext cx="2011320" cy="150840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5" name="Shape 24"/>
          <p:cNvSpPr/>
          <p:nvPr/>
        </p:nvSpPr>
        <p:spPr>
          <a:xfrm>
            <a:off x="4663440" y="2971800"/>
            <a:ext cx="2011320" cy="453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6" name="Text 25"/>
          <p:cNvSpPr/>
          <p:nvPr/>
        </p:nvSpPr>
        <p:spPr>
          <a:xfrm>
            <a:off x="4754880" y="30632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3b82f6"/>
                </a:solidFill>
                <a:latin typeface="Calibri"/>
                <a:ea typeface="Calibri"/>
              </a:rPr>
              <a:t>03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26"/>
          <p:cNvSpPr/>
          <p:nvPr/>
        </p:nvSpPr>
        <p:spPr>
          <a:xfrm>
            <a:off x="4754880" y="34290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Score Scale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27"/>
          <p:cNvSpPr/>
          <p:nvPr/>
        </p:nvSpPr>
        <p:spPr>
          <a:xfrm>
            <a:off x="4754880" y="374904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Raw 0.22–0.60 → 50%–99%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Shape 28"/>
          <p:cNvSpPr/>
          <p:nvPr/>
        </p:nvSpPr>
        <p:spPr>
          <a:xfrm>
            <a:off x="6812280" y="2971800"/>
            <a:ext cx="2011320" cy="150840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0" name="Shape 29"/>
          <p:cNvSpPr/>
          <p:nvPr/>
        </p:nvSpPr>
        <p:spPr>
          <a:xfrm>
            <a:off x="6812280" y="2971800"/>
            <a:ext cx="2011320" cy="453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1" name="Text 30"/>
          <p:cNvSpPr/>
          <p:nvPr/>
        </p:nvSpPr>
        <p:spPr>
          <a:xfrm>
            <a:off x="6903720" y="30632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3b82f6"/>
                </a:solidFill>
                <a:latin typeface="Calibri"/>
                <a:ea typeface="Calibri"/>
              </a:rPr>
              <a:t>04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31"/>
          <p:cNvSpPr/>
          <p:nvPr/>
        </p:nvSpPr>
        <p:spPr>
          <a:xfrm>
            <a:off x="6903720" y="34290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Gate Check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 32"/>
          <p:cNvSpPr/>
          <p:nvPr/>
        </p:nvSpPr>
        <p:spPr>
          <a:xfrm>
            <a:off x="6903720" y="374904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Rejects if score &lt; 0.22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5" name="Text 1"/>
          <p:cNvSpPr/>
          <p:nvPr/>
        </p:nvSpPr>
        <p:spPr>
          <a:xfrm>
            <a:off x="457200" y="25596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98" strike="noStrike">
                <a:solidFill>
                  <a:srgbClr val="3b82f6"/>
                </a:solidFill>
                <a:latin typeface="Calibri"/>
                <a:ea typeface="Calibri"/>
              </a:rPr>
              <a:t>FEATURE 02 — READINESS ASSESSMENT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 2"/>
          <p:cNvSpPr/>
          <p:nvPr/>
        </p:nvSpPr>
        <p:spPr>
          <a:xfrm>
            <a:off x="7955280" y="484632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8 / 14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3"/>
          <p:cNvSpPr/>
          <p:nvPr/>
        </p:nvSpPr>
        <p:spPr>
          <a:xfrm>
            <a:off x="457200" y="5029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Readiness Assessment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4"/>
          <p:cNvSpPr/>
          <p:nvPr/>
        </p:nvSpPr>
        <p:spPr>
          <a:xfrm>
            <a:off x="365760" y="10515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299" strike="noStrike">
                <a:solidFill>
                  <a:srgbClr val="06b6d4"/>
                </a:solidFill>
                <a:latin typeface="Calibri"/>
                <a:ea typeface="Calibri"/>
              </a:rPr>
              <a:t>5 INPUT DIMENSIONS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Shape 5"/>
          <p:cNvSpPr/>
          <p:nvPr/>
        </p:nvSpPr>
        <p:spPr>
          <a:xfrm>
            <a:off x="365760" y="1353240"/>
            <a:ext cx="4845960" cy="58500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0" name="Text 6"/>
          <p:cNvSpPr/>
          <p:nvPr/>
        </p:nvSpPr>
        <p:spPr>
          <a:xfrm>
            <a:off x="502920" y="1417320"/>
            <a:ext cx="31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6b6d4"/>
                </a:solidFill>
                <a:latin typeface="Calibri"/>
                <a:ea typeface="Calibri"/>
              </a:rPr>
              <a:t>1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 7"/>
          <p:cNvSpPr/>
          <p:nvPr/>
        </p:nvSpPr>
        <p:spPr>
          <a:xfrm>
            <a:off x="914400" y="1417320"/>
            <a:ext cx="4114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Academic Performance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8"/>
          <p:cNvSpPr/>
          <p:nvPr/>
        </p:nvSpPr>
        <p:spPr>
          <a:xfrm>
            <a:off x="914400" y="1664280"/>
            <a:ext cx="4114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GPA and overall academic achievement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Shape 9"/>
          <p:cNvSpPr/>
          <p:nvPr/>
        </p:nvSpPr>
        <p:spPr>
          <a:xfrm>
            <a:off x="365760" y="2030040"/>
            <a:ext cx="4845960" cy="58500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4" name="Text 10"/>
          <p:cNvSpPr/>
          <p:nvPr/>
        </p:nvSpPr>
        <p:spPr>
          <a:xfrm>
            <a:off x="502920" y="2094120"/>
            <a:ext cx="31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6b6d4"/>
                </a:solidFill>
                <a:latin typeface="Calibri"/>
                <a:ea typeface="Calibri"/>
              </a:rPr>
              <a:t>2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11"/>
          <p:cNvSpPr/>
          <p:nvPr/>
        </p:nvSpPr>
        <p:spPr>
          <a:xfrm>
            <a:off x="914400" y="2094120"/>
            <a:ext cx="4114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Technical Skills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12"/>
          <p:cNvSpPr/>
          <p:nvPr/>
        </p:nvSpPr>
        <p:spPr>
          <a:xfrm>
            <a:off x="914400" y="2340720"/>
            <a:ext cx="4114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Domain-specific knowledge and tools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Shape 13"/>
          <p:cNvSpPr/>
          <p:nvPr/>
        </p:nvSpPr>
        <p:spPr>
          <a:xfrm>
            <a:off x="365760" y="2706480"/>
            <a:ext cx="4845960" cy="58500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8" name="Text 14"/>
          <p:cNvSpPr/>
          <p:nvPr/>
        </p:nvSpPr>
        <p:spPr>
          <a:xfrm>
            <a:off x="502920" y="2770560"/>
            <a:ext cx="31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6b6d4"/>
                </a:solidFill>
                <a:latin typeface="Calibri"/>
                <a:ea typeface="Calibri"/>
              </a:rPr>
              <a:t>3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Text 15"/>
          <p:cNvSpPr/>
          <p:nvPr/>
        </p:nvSpPr>
        <p:spPr>
          <a:xfrm>
            <a:off x="914400" y="2770560"/>
            <a:ext cx="4114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Extracurricular Involvement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 16"/>
          <p:cNvSpPr/>
          <p:nvPr/>
        </p:nvSpPr>
        <p:spPr>
          <a:xfrm>
            <a:off x="914400" y="3017520"/>
            <a:ext cx="4114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Projects, societies, competitions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Shape 17"/>
          <p:cNvSpPr/>
          <p:nvPr/>
        </p:nvSpPr>
        <p:spPr>
          <a:xfrm>
            <a:off x="365760" y="3383280"/>
            <a:ext cx="4845960" cy="58500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2" name="Text 18"/>
          <p:cNvSpPr/>
          <p:nvPr/>
        </p:nvSpPr>
        <p:spPr>
          <a:xfrm>
            <a:off x="502920" y="3447360"/>
            <a:ext cx="31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6b6d4"/>
                </a:solidFill>
                <a:latin typeface="Calibri"/>
                <a:ea typeface="Calibri"/>
              </a:rPr>
              <a:t>4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Text 19"/>
          <p:cNvSpPr/>
          <p:nvPr/>
        </p:nvSpPr>
        <p:spPr>
          <a:xfrm>
            <a:off x="914400" y="3447360"/>
            <a:ext cx="4114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Communication Skills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20"/>
          <p:cNvSpPr/>
          <p:nvPr/>
        </p:nvSpPr>
        <p:spPr>
          <a:xfrm>
            <a:off x="914400" y="3694320"/>
            <a:ext cx="4114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Written and verbal professionalism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Shape 21"/>
          <p:cNvSpPr/>
          <p:nvPr/>
        </p:nvSpPr>
        <p:spPr>
          <a:xfrm>
            <a:off x="365760" y="4060080"/>
            <a:ext cx="4845960" cy="58500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6" name="Text 22"/>
          <p:cNvSpPr/>
          <p:nvPr/>
        </p:nvSpPr>
        <p:spPr>
          <a:xfrm>
            <a:off x="502920" y="4123800"/>
            <a:ext cx="31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6b6d4"/>
                </a:solidFill>
                <a:latin typeface="Calibri"/>
                <a:ea typeface="Calibri"/>
              </a:rPr>
              <a:t>5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23"/>
          <p:cNvSpPr/>
          <p:nvPr/>
        </p:nvSpPr>
        <p:spPr>
          <a:xfrm>
            <a:off x="914400" y="4123800"/>
            <a:ext cx="4114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Career Goal Clarity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 24"/>
          <p:cNvSpPr/>
          <p:nvPr/>
        </p:nvSpPr>
        <p:spPr>
          <a:xfrm>
            <a:off x="914400" y="4370760"/>
            <a:ext cx="4114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Awareness of professional direction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Shape 25"/>
          <p:cNvSpPr/>
          <p:nvPr/>
        </p:nvSpPr>
        <p:spPr>
          <a:xfrm>
            <a:off x="5440680" y="1051560"/>
            <a:ext cx="3291480" cy="3474360"/>
          </a:xfrm>
          <a:prstGeom prst="rect">
            <a:avLst/>
          </a:prstGeom>
          <a:solidFill>
            <a:srgbClr val="0d1b3e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0" name="Shape 26"/>
          <p:cNvSpPr/>
          <p:nvPr/>
        </p:nvSpPr>
        <p:spPr>
          <a:xfrm>
            <a:off x="5440680" y="1051560"/>
            <a:ext cx="3291480" cy="5436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1" name="Text 27"/>
          <p:cNvSpPr/>
          <p:nvPr/>
        </p:nvSpPr>
        <p:spPr>
          <a:xfrm>
            <a:off x="5577840" y="1170360"/>
            <a:ext cx="3017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299" strike="noStrike">
                <a:solidFill>
                  <a:srgbClr val="06b6d4"/>
                </a:solidFill>
                <a:latin typeface="Calibri"/>
                <a:ea typeface="Calibri"/>
              </a:rPr>
              <a:t>OUTPUT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2" name="Image 0" descr="preencoded.png"/>
          <p:cNvPicPr/>
          <p:nvPr/>
        </p:nvPicPr>
        <p:blipFill>
          <a:blip r:embed="rId1"/>
          <a:stretch/>
        </p:blipFill>
        <p:spPr>
          <a:xfrm>
            <a:off x="6537960" y="1508760"/>
            <a:ext cx="731160" cy="731160"/>
          </a:xfrm>
          <a:prstGeom prst="rect">
            <a:avLst/>
          </a:prstGeom>
          <a:ln w="0">
            <a:noFill/>
          </a:ln>
        </p:spPr>
      </p:pic>
      <p:sp>
        <p:nvSpPr>
          <p:cNvPr id="253" name="Text 28"/>
          <p:cNvSpPr/>
          <p:nvPr/>
        </p:nvSpPr>
        <p:spPr>
          <a:xfrm>
            <a:off x="5577840" y="2331720"/>
            <a:ext cx="3017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Plotly Gauge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Chart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Shape 29"/>
          <p:cNvSpPr/>
          <p:nvPr/>
        </p:nvSpPr>
        <p:spPr>
          <a:xfrm>
            <a:off x="5623560" y="2944440"/>
            <a:ext cx="1005480" cy="50256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5" name="Text 30"/>
          <p:cNvSpPr/>
          <p:nvPr/>
        </p:nvSpPr>
        <p:spPr>
          <a:xfrm>
            <a:off x="5623560" y="2971800"/>
            <a:ext cx="1005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a0a0f"/>
                </a:solidFill>
                <a:latin typeface="Calibri"/>
                <a:ea typeface="Calibri"/>
              </a:rPr>
              <a:t>&lt; 40%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 31"/>
          <p:cNvSpPr/>
          <p:nvPr/>
        </p:nvSpPr>
        <p:spPr>
          <a:xfrm>
            <a:off x="5623560" y="320040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0a0a0f"/>
                </a:solidFill>
                <a:latin typeface="Calibri"/>
                <a:ea typeface="Calibri"/>
              </a:rPr>
              <a:t>Low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Shape 32"/>
          <p:cNvSpPr/>
          <p:nvPr/>
        </p:nvSpPr>
        <p:spPr>
          <a:xfrm>
            <a:off x="6702480" y="2944440"/>
            <a:ext cx="1005480" cy="502560"/>
          </a:xfrm>
          <a:prstGeom prst="rect">
            <a:avLst/>
          </a:prstGeom>
          <a:solidFill>
            <a:srgbClr val="ecc94b"/>
          </a:solidFill>
          <a:ln w="12700">
            <a:solidFill>
              <a:srgbClr val="ecc9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8" name="Text 33"/>
          <p:cNvSpPr/>
          <p:nvPr/>
        </p:nvSpPr>
        <p:spPr>
          <a:xfrm>
            <a:off x="6702480" y="2971800"/>
            <a:ext cx="1005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a0a0f"/>
                </a:solidFill>
                <a:latin typeface="Calibri"/>
                <a:ea typeface="Calibri"/>
              </a:rPr>
              <a:t>40–70%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Text 34"/>
          <p:cNvSpPr/>
          <p:nvPr/>
        </p:nvSpPr>
        <p:spPr>
          <a:xfrm>
            <a:off x="6702480" y="320040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0a0a0f"/>
                </a:solidFill>
                <a:latin typeface="Calibri"/>
                <a:ea typeface="Calibri"/>
              </a:rPr>
              <a:t>Moderate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Shape 35"/>
          <p:cNvSpPr/>
          <p:nvPr/>
        </p:nvSpPr>
        <p:spPr>
          <a:xfrm>
            <a:off x="7781400" y="2944440"/>
            <a:ext cx="1005480" cy="502560"/>
          </a:xfrm>
          <a:prstGeom prst="rect">
            <a:avLst/>
          </a:prstGeom>
          <a:solidFill>
            <a:srgbClr val="68d391"/>
          </a:solidFill>
          <a:ln w="12700">
            <a:solidFill>
              <a:srgbClr val="68d3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1" name="Text 36"/>
          <p:cNvSpPr/>
          <p:nvPr/>
        </p:nvSpPr>
        <p:spPr>
          <a:xfrm>
            <a:off x="7781400" y="2971800"/>
            <a:ext cx="1005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a0a0f"/>
                </a:solidFill>
                <a:latin typeface="Calibri"/>
                <a:ea typeface="Calibri"/>
              </a:rPr>
              <a:t>&gt; 70%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Text 37"/>
          <p:cNvSpPr/>
          <p:nvPr/>
        </p:nvSpPr>
        <p:spPr>
          <a:xfrm>
            <a:off x="7781400" y="320040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0a0a0f"/>
                </a:solidFill>
                <a:latin typeface="Calibri"/>
                <a:ea typeface="Calibri"/>
              </a:rPr>
              <a:t>High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 38"/>
          <p:cNvSpPr/>
          <p:nvPr/>
        </p:nvSpPr>
        <p:spPr>
          <a:xfrm>
            <a:off x="5577840" y="3611880"/>
            <a:ext cx="30171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Conditional feedback generated for each low-rated dimension (e.g. course suggestions if Technical Skills &lt; 6).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5" name="Text 1"/>
          <p:cNvSpPr/>
          <p:nvPr/>
        </p:nvSpPr>
        <p:spPr>
          <a:xfrm>
            <a:off x="457200" y="25596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98" strike="noStrike">
                <a:solidFill>
                  <a:srgbClr val="3b82f6"/>
                </a:solidFill>
                <a:latin typeface="Calibri"/>
                <a:ea typeface="Calibri"/>
              </a:rPr>
              <a:t>FEATURES 03 &amp; 04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 2"/>
          <p:cNvSpPr/>
          <p:nvPr/>
        </p:nvSpPr>
        <p:spPr>
          <a:xfrm>
            <a:off x="7955280" y="484632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9 / 14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3"/>
          <p:cNvSpPr/>
          <p:nvPr/>
        </p:nvSpPr>
        <p:spPr>
          <a:xfrm>
            <a:off x="457200" y="5029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Directory &amp; Comparison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Shape 4"/>
          <p:cNvSpPr/>
          <p:nvPr/>
        </p:nvSpPr>
        <p:spPr>
          <a:xfrm>
            <a:off x="365760" y="1097280"/>
            <a:ext cx="4160160" cy="356580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9" name="Shape 5"/>
          <p:cNvSpPr/>
          <p:nvPr/>
        </p:nvSpPr>
        <p:spPr>
          <a:xfrm>
            <a:off x="365760" y="1097280"/>
            <a:ext cx="4160160" cy="5436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0" name="Text 6"/>
          <p:cNvSpPr/>
          <p:nvPr/>
        </p:nvSpPr>
        <p:spPr>
          <a:xfrm>
            <a:off x="502920" y="1216080"/>
            <a:ext cx="3931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299" strike="noStrike">
                <a:solidFill>
                  <a:srgbClr val="a78bfa"/>
                </a:solidFill>
                <a:latin typeface="Calibri"/>
                <a:ea typeface="Calibri"/>
              </a:rPr>
              <a:t>CAREER DIRECTORY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 7"/>
          <p:cNvSpPr/>
          <p:nvPr/>
        </p:nvSpPr>
        <p:spPr>
          <a:xfrm>
            <a:off x="502920" y="1508760"/>
            <a:ext cx="3931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Searchable Catalog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 8"/>
          <p:cNvSpPr/>
          <p:nvPr/>
        </p:nvSpPr>
        <p:spPr>
          <a:xfrm>
            <a:off x="502920" y="199332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a78bfa"/>
                </a:solidFill>
                <a:latin typeface="Calibri"/>
                <a:ea typeface="Calibri"/>
              </a:rPr>
              <a:t>›  </a:t>
            </a: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74+ careers across 8 categories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9"/>
          <p:cNvSpPr/>
          <p:nvPr/>
        </p:nvSpPr>
        <p:spPr>
          <a:xfrm>
            <a:off x="502920" y="249624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a78bfa"/>
                </a:solidFill>
                <a:latin typeface="Calibri"/>
                <a:ea typeface="Calibri"/>
              </a:rPr>
              <a:t>›  </a:t>
            </a: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Filter by IT &amp; Data, Engineering, Medical, Law, Business, Creative...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 10"/>
          <p:cNvSpPr/>
          <p:nvPr/>
        </p:nvSpPr>
        <p:spPr>
          <a:xfrm>
            <a:off x="502920" y="299916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a78bfa"/>
                </a:solidFill>
                <a:latin typeface="Calibri"/>
                <a:ea typeface="Calibri"/>
              </a:rPr>
              <a:t>›  </a:t>
            </a: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Keyword search across all careers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 11"/>
          <p:cNvSpPr/>
          <p:nvPr/>
        </p:nvSpPr>
        <p:spPr>
          <a:xfrm>
            <a:off x="502920" y="350208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a78bfa"/>
                </a:solidFill>
                <a:latin typeface="Calibri"/>
                <a:ea typeface="Calibri"/>
              </a:rPr>
              <a:t>›  </a:t>
            </a: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Expandable roadmap cards with universities by province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12"/>
          <p:cNvSpPr/>
          <p:nvPr/>
        </p:nvSpPr>
        <p:spPr>
          <a:xfrm>
            <a:off x="502920" y="400500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a78bfa"/>
                </a:solidFill>
                <a:latin typeface="Calibri"/>
                <a:ea typeface="Calibri"/>
              </a:rPr>
              <a:t>›  </a:t>
            </a: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Consistent render_card() component throughout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Shape 13"/>
          <p:cNvSpPr/>
          <p:nvPr/>
        </p:nvSpPr>
        <p:spPr>
          <a:xfrm>
            <a:off x="4663440" y="1097280"/>
            <a:ext cx="4114440" cy="356580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8" name="Shape 14"/>
          <p:cNvSpPr/>
          <p:nvPr/>
        </p:nvSpPr>
        <p:spPr>
          <a:xfrm>
            <a:off x="4663440" y="1097280"/>
            <a:ext cx="4114440" cy="54360"/>
          </a:xfrm>
          <a:prstGeom prst="rect">
            <a:avLst/>
          </a:prstGeom>
          <a:solidFill>
            <a:srgbClr val="ecc9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9" name="Text 15"/>
          <p:cNvSpPr/>
          <p:nvPr/>
        </p:nvSpPr>
        <p:spPr>
          <a:xfrm>
            <a:off x="4800600" y="121608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299" strike="noStrike">
                <a:solidFill>
                  <a:srgbClr val="ecc94b"/>
                </a:solidFill>
                <a:latin typeface="Calibri"/>
                <a:ea typeface="Calibri"/>
              </a:rPr>
              <a:t>CAREER COMPARISON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 16"/>
          <p:cNvSpPr/>
          <p:nvPr/>
        </p:nvSpPr>
        <p:spPr>
          <a:xfrm>
            <a:off x="4800600" y="150876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Side-by-Side Analysis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 17"/>
          <p:cNvSpPr/>
          <p:nvPr/>
        </p:nvSpPr>
        <p:spPr>
          <a:xfrm>
            <a:off x="4800600" y="199332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2e8f0"/>
                </a:solidFill>
                <a:latin typeface="Calibri"/>
                <a:ea typeface="Calibri"/>
              </a:rPr>
              <a:t>Salary Comparison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Shape 18"/>
          <p:cNvSpPr/>
          <p:nvPr/>
        </p:nvSpPr>
        <p:spPr>
          <a:xfrm>
            <a:off x="4937760" y="3108960"/>
            <a:ext cx="411120" cy="54828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3" name="Shape 19"/>
          <p:cNvSpPr/>
          <p:nvPr/>
        </p:nvSpPr>
        <p:spPr>
          <a:xfrm>
            <a:off x="5413320" y="3246120"/>
            <a:ext cx="411120" cy="411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4" name="Shape 20"/>
          <p:cNvSpPr/>
          <p:nvPr/>
        </p:nvSpPr>
        <p:spPr>
          <a:xfrm>
            <a:off x="5413320" y="3246120"/>
            <a:ext cx="411120" cy="411120"/>
          </a:xfrm>
          <a:prstGeom prst="rect">
            <a:avLst/>
          </a:prstGeom>
          <a:solidFill>
            <a:srgbClr val="1a1a28"/>
          </a:solidFill>
          <a:ln w="635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5" name="Text 21"/>
          <p:cNvSpPr/>
          <p:nvPr/>
        </p:nvSpPr>
        <p:spPr>
          <a:xfrm>
            <a:off x="4892040" y="368496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  <a:ea typeface="Calibri"/>
              </a:rPr>
              <a:t>Min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Shape 22"/>
          <p:cNvSpPr/>
          <p:nvPr/>
        </p:nvSpPr>
        <p:spPr>
          <a:xfrm>
            <a:off x="5486400" y="2651760"/>
            <a:ext cx="411120" cy="100548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7" name="Shape 23"/>
          <p:cNvSpPr/>
          <p:nvPr/>
        </p:nvSpPr>
        <p:spPr>
          <a:xfrm>
            <a:off x="5961960" y="2903400"/>
            <a:ext cx="411120" cy="754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8" name="Shape 24"/>
          <p:cNvSpPr/>
          <p:nvPr/>
        </p:nvSpPr>
        <p:spPr>
          <a:xfrm>
            <a:off x="5961960" y="2903400"/>
            <a:ext cx="411120" cy="754200"/>
          </a:xfrm>
          <a:prstGeom prst="rect">
            <a:avLst/>
          </a:prstGeom>
          <a:solidFill>
            <a:srgbClr val="1a1a28"/>
          </a:solidFill>
          <a:ln w="635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9" name="Text 25"/>
          <p:cNvSpPr/>
          <p:nvPr/>
        </p:nvSpPr>
        <p:spPr>
          <a:xfrm>
            <a:off x="5440680" y="368496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  <a:ea typeface="Calibri"/>
              </a:rPr>
              <a:t>Avg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Shape 26"/>
          <p:cNvSpPr/>
          <p:nvPr/>
        </p:nvSpPr>
        <p:spPr>
          <a:xfrm>
            <a:off x="6035040" y="2194560"/>
            <a:ext cx="411120" cy="146268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1" name="Shape 27"/>
          <p:cNvSpPr/>
          <p:nvPr/>
        </p:nvSpPr>
        <p:spPr>
          <a:xfrm>
            <a:off x="6510600" y="2560320"/>
            <a:ext cx="411120" cy="1096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2" name="Shape 28"/>
          <p:cNvSpPr/>
          <p:nvPr/>
        </p:nvSpPr>
        <p:spPr>
          <a:xfrm>
            <a:off x="6510600" y="2560320"/>
            <a:ext cx="411120" cy="1096920"/>
          </a:xfrm>
          <a:prstGeom prst="rect">
            <a:avLst/>
          </a:prstGeom>
          <a:solidFill>
            <a:srgbClr val="1a1a28"/>
          </a:solidFill>
          <a:ln w="635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3" name="Text 29"/>
          <p:cNvSpPr/>
          <p:nvPr/>
        </p:nvSpPr>
        <p:spPr>
          <a:xfrm>
            <a:off x="5989320" y="368496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  <a:ea typeface="Calibri"/>
              </a:rPr>
              <a:t>Max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30"/>
          <p:cNvSpPr/>
          <p:nvPr/>
        </p:nvSpPr>
        <p:spPr>
          <a:xfrm>
            <a:off x="4800600" y="391356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Altair grouped bar chart  ·  Min / Avg / Max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Text 31"/>
          <p:cNvSpPr/>
          <p:nvPr/>
        </p:nvSpPr>
        <p:spPr>
          <a:xfrm>
            <a:off x="4800600" y="420624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Education grid comparing required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degrees, FSc/ICS paths, and core skills.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68d39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7" name="Text 1"/>
          <p:cNvSpPr/>
          <p:nvPr/>
        </p:nvSpPr>
        <p:spPr>
          <a:xfrm>
            <a:off x="457200" y="25596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98" strike="noStrike">
                <a:solidFill>
                  <a:srgbClr val="3b82f6"/>
                </a:solidFill>
                <a:latin typeface="Calibri"/>
                <a:ea typeface="Calibri"/>
              </a:rPr>
              <a:t>DATASETS &amp; MODELS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Text 2"/>
          <p:cNvSpPr/>
          <p:nvPr/>
        </p:nvSpPr>
        <p:spPr>
          <a:xfrm>
            <a:off x="7955280" y="484632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10 / 14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 3"/>
          <p:cNvSpPr/>
          <p:nvPr/>
        </p:nvSpPr>
        <p:spPr>
          <a:xfrm>
            <a:off x="457200" y="5029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Data &amp; ML Models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Shape 4"/>
          <p:cNvSpPr/>
          <p:nvPr/>
        </p:nvSpPr>
        <p:spPr>
          <a:xfrm>
            <a:off x="365760" y="1051560"/>
            <a:ext cx="4160160" cy="374868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1" name="Shape 5"/>
          <p:cNvSpPr/>
          <p:nvPr/>
        </p:nvSpPr>
        <p:spPr>
          <a:xfrm>
            <a:off x="365760" y="1051560"/>
            <a:ext cx="4160160" cy="543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2" name="Text 6"/>
          <p:cNvSpPr/>
          <p:nvPr/>
        </p:nvSpPr>
        <p:spPr>
          <a:xfrm>
            <a:off x="502920" y="117036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99" strike="noStrike">
                <a:solidFill>
                  <a:srgbClr val="3b82f6"/>
                </a:solidFill>
                <a:latin typeface="Calibri"/>
                <a:ea typeface="Calibri"/>
              </a:rPr>
              <a:t>PRIMARY DATASET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Text 7"/>
          <p:cNvSpPr/>
          <p:nvPr/>
        </p:nvSpPr>
        <p:spPr>
          <a:xfrm>
            <a:off x="502920" y="1417320"/>
            <a:ext cx="3931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careers_pakistan.csv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 8"/>
          <p:cNvSpPr/>
          <p:nvPr/>
        </p:nvSpPr>
        <p:spPr>
          <a:xfrm>
            <a:off x="502920" y="187452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3b82f6"/>
                </a:solidFill>
                <a:latin typeface="Calibri"/>
                <a:ea typeface="Calibri"/>
              </a:rPr>
              <a:t>74 rows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Text 9"/>
          <p:cNvSpPr/>
          <p:nvPr/>
        </p:nvSpPr>
        <p:spPr>
          <a:xfrm>
            <a:off x="502920" y="2240280"/>
            <a:ext cx="3840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3b82f6"/>
                </a:solidFill>
                <a:latin typeface="Calibri"/>
                <a:ea typeface="Calibri"/>
              </a:rPr>
              <a:t>·  </a:t>
            </a: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74 curated Pakistani professions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 10"/>
          <p:cNvSpPr/>
          <p:nvPr/>
        </p:nvSpPr>
        <p:spPr>
          <a:xfrm>
            <a:off x="502920" y="2642760"/>
            <a:ext cx="3840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3b82f6"/>
                </a:solidFill>
                <a:latin typeface="Calibri"/>
                <a:ea typeface="Calibri"/>
              </a:rPr>
              <a:t>·  </a:t>
            </a: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Traditional + modern tech roles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 11"/>
          <p:cNvSpPr/>
          <p:nvPr/>
        </p:nvSpPr>
        <p:spPr>
          <a:xfrm>
            <a:off x="502920" y="3044880"/>
            <a:ext cx="3840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3b82f6"/>
                </a:solidFill>
                <a:latin typeface="Calibri"/>
                <a:ea typeface="Calibri"/>
              </a:rPr>
              <a:t>·  </a:t>
            </a: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Salary Min / Avg / Max (PKR)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Text 12"/>
          <p:cNvSpPr/>
          <p:nvPr/>
        </p:nvSpPr>
        <p:spPr>
          <a:xfrm>
            <a:off x="502920" y="3447360"/>
            <a:ext cx="3840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3b82f6"/>
                </a:solidFill>
                <a:latin typeface="Calibri"/>
                <a:ea typeface="Calibri"/>
              </a:rPr>
              <a:t>·  </a:t>
            </a: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Step-by-step career roadmaps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Text 13"/>
          <p:cNvSpPr/>
          <p:nvPr/>
        </p:nvSpPr>
        <p:spPr>
          <a:xfrm>
            <a:off x="502920" y="3849480"/>
            <a:ext cx="3840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3b82f6"/>
                </a:solidFill>
                <a:latin typeface="Calibri"/>
                <a:ea typeface="Calibri"/>
              </a:rPr>
              <a:t>·  </a:t>
            </a: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FSc / ICS pathway recommendations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Text 14"/>
          <p:cNvSpPr/>
          <p:nvPr/>
        </p:nvSpPr>
        <p:spPr>
          <a:xfrm>
            <a:off x="502920" y="4251960"/>
            <a:ext cx="3840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3b82f6"/>
                </a:solidFill>
                <a:latin typeface="Calibri"/>
                <a:ea typeface="Calibri"/>
              </a:rPr>
              <a:t>·  </a:t>
            </a: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Top universities across 5 provinces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Shape 15"/>
          <p:cNvSpPr/>
          <p:nvPr/>
        </p:nvSpPr>
        <p:spPr>
          <a:xfrm>
            <a:off x="4754880" y="1051560"/>
            <a:ext cx="4160160" cy="374868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2" name="Shape 16"/>
          <p:cNvSpPr/>
          <p:nvPr/>
        </p:nvSpPr>
        <p:spPr>
          <a:xfrm>
            <a:off x="4754880" y="1051560"/>
            <a:ext cx="4160160" cy="54360"/>
          </a:xfrm>
          <a:prstGeom prst="rect">
            <a:avLst/>
          </a:prstGeom>
          <a:solidFill>
            <a:srgbClr val="68d39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3" name="Text 17"/>
          <p:cNvSpPr/>
          <p:nvPr/>
        </p:nvSpPr>
        <p:spPr>
          <a:xfrm>
            <a:off x="4892040" y="117036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99" strike="noStrike">
                <a:solidFill>
                  <a:srgbClr val="68d391"/>
                </a:solidFill>
                <a:latin typeface="Calibri"/>
                <a:ea typeface="Calibri"/>
              </a:rPr>
              <a:t>TRAINING DATASET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Text 18"/>
          <p:cNvSpPr/>
          <p:nvPr/>
        </p:nvSpPr>
        <p:spPr>
          <a:xfrm>
            <a:off x="4892040" y="1417320"/>
            <a:ext cx="3931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careerlens_training_dataset.csv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 19"/>
          <p:cNvSpPr/>
          <p:nvPr/>
        </p:nvSpPr>
        <p:spPr>
          <a:xfrm>
            <a:off x="4892040" y="187452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68d391"/>
                </a:solidFill>
                <a:latin typeface="Calibri"/>
                <a:ea typeface="Calibri"/>
              </a:rPr>
              <a:t>3,012 rows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 20"/>
          <p:cNvSpPr/>
          <p:nvPr/>
        </p:nvSpPr>
        <p:spPr>
          <a:xfrm>
            <a:off x="4892040" y="2240280"/>
            <a:ext cx="3840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68d391"/>
                </a:solidFill>
                <a:latin typeface="Calibri"/>
                <a:ea typeface="Calibri"/>
              </a:rPr>
              <a:t>·  </a:t>
            </a: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Synthetically generated profiles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 21"/>
          <p:cNvSpPr/>
          <p:nvPr/>
        </p:nvSpPr>
        <p:spPr>
          <a:xfrm>
            <a:off x="4892040" y="2642760"/>
            <a:ext cx="3840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68d391"/>
                </a:solidFill>
                <a:latin typeface="Calibri"/>
                <a:ea typeface="Calibri"/>
              </a:rPr>
              <a:t>·  </a:t>
            </a: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Skills + Interests + Hobbies fields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Text 22"/>
          <p:cNvSpPr/>
          <p:nvPr/>
        </p:nvSpPr>
        <p:spPr>
          <a:xfrm>
            <a:off x="4892040" y="3044880"/>
            <a:ext cx="3840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68d391"/>
                </a:solidFill>
                <a:latin typeface="Calibri"/>
                <a:ea typeface="Calibri"/>
              </a:rPr>
              <a:t>·  </a:t>
            </a: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Mapped to Career Name + Category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Text 23"/>
          <p:cNvSpPr/>
          <p:nvPr/>
        </p:nvSpPr>
        <p:spPr>
          <a:xfrm>
            <a:off x="4892040" y="3447360"/>
            <a:ext cx="3840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68d391"/>
                </a:solidFill>
                <a:latin typeface="Calibri"/>
                <a:ea typeface="Calibri"/>
              </a:rPr>
              <a:t>·  </a:t>
            </a: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Balanced across all 8 categories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Text 24"/>
          <p:cNvSpPr/>
          <p:nvPr/>
        </p:nvSpPr>
        <p:spPr>
          <a:xfrm>
            <a:off x="4892040" y="3849480"/>
            <a:ext cx="3840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68d391"/>
                </a:solidFill>
                <a:latin typeface="Calibri"/>
                <a:ea typeface="Calibri"/>
              </a:rPr>
              <a:t>·  </a:t>
            </a: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Prevents data sparsity for rare roles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25"/>
          <p:cNvSpPr/>
          <p:nvPr/>
        </p:nvSpPr>
        <p:spPr>
          <a:xfrm>
            <a:off x="4892040" y="4251960"/>
            <a:ext cx="3840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68d391"/>
                </a:solidFill>
                <a:latin typeface="Calibri"/>
                <a:ea typeface="Calibri"/>
              </a:rPr>
              <a:t>·  </a:t>
            </a: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Used to train the KNN classifier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3" name="Text 1"/>
          <p:cNvSpPr/>
          <p:nvPr/>
        </p:nvSpPr>
        <p:spPr>
          <a:xfrm>
            <a:off x="457200" y="25596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98" strike="noStrike">
                <a:solidFill>
                  <a:srgbClr val="3b82f6"/>
                </a:solidFill>
                <a:latin typeface="Calibri"/>
                <a:ea typeface="Calibri"/>
              </a:rPr>
              <a:t>ML MODELS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Text 2"/>
          <p:cNvSpPr/>
          <p:nvPr/>
        </p:nvSpPr>
        <p:spPr>
          <a:xfrm>
            <a:off x="7955280" y="484632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11 / 14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Text 3"/>
          <p:cNvSpPr/>
          <p:nvPr/>
        </p:nvSpPr>
        <p:spPr>
          <a:xfrm>
            <a:off x="457200" y="5029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Trained Models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Shape 4"/>
          <p:cNvSpPr/>
          <p:nvPr/>
        </p:nvSpPr>
        <p:spPr>
          <a:xfrm>
            <a:off x="365760" y="1097280"/>
            <a:ext cx="8412120" cy="66708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7" name="Shape 5"/>
          <p:cNvSpPr/>
          <p:nvPr/>
        </p:nvSpPr>
        <p:spPr>
          <a:xfrm>
            <a:off x="365760" y="1097280"/>
            <a:ext cx="45360" cy="66708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8" name="Text 6"/>
          <p:cNvSpPr/>
          <p:nvPr/>
        </p:nvSpPr>
        <p:spPr>
          <a:xfrm>
            <a:off x="548640" y="116136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Sentence-BERT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Text 7"/>
          <p:cNvSpPr/>
          <p:nvPr/>
        </p:nvSpPr>
        <p:spPr>
          <a:xfrm>
            <a:off x="548640" y="143568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Transformer (NLP)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 8"/>
          <p:cNvSpPr/>
          <p:nvPr/>
        </p:nvSpPr>
        <p:spPr>
          <a:xfrm>
            <a:off x="2697480" y="118872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3b82f6"/>
                </a:solidFill>
                <a:latin typeface="Calibri"/>
                <a:ea typeface="Calibri"/>
              </a:rPr>
              <a:t>all-MiniLM-L6-v2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Text 9"/>
          <p:cNvSpPr/>
          <p:nvPr/>
        </p:nvSpPr>
        <p:spPr>
          <a:xfrm>
            <a:off x="2697480" y="141732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384-dim vectors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Text 10"/>
          <p:cNvSpPr/>
          <p:nvPr/>
        </p:nvSpPr>
        <p:spPr>
          <a:xfrm>
            <a:off x="4800600" y="1188720"/>
            <a:ext cx="3840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Encodes user text and career keywords into dense semantic vectors for similarity matching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Shape 11"/>
          <p:cNvSpPr/>
          <p:nvPr/>
        </p:nvSpPr>
        <p:spPr>
          <a:xfrm>
            <a:off x="365760" y="1856160"/>
            <a:ext cx="8412120" cy="66708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4" name="Shape 12"/>
          <p:cNvSpPr/>
          <p:nvPr/>
        </p:nvSpPr>
        <p:spPr>
          <a:xfrm>
            <a:off x="365760" y="1856160"/>
            <a:ext cx="45360" cy="66708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5" name="Text 13"/>
          <p:cNvSpPr/>
          <p:nvPr/>
        </p:nvSpPr>
        <p:spPr>
          <a:xfrm>
            <a:off x="548640" y="192024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KNN Classifier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14"/>
          <p:cNvSpPr/>
          <p:nvPr/>
        </p:nvSpPr>
        <p:spPr>
          <a:xfrm>
            <a:off x="548640" y="219456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Scikit-learn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Text 15"/>
          <p:cNvSpPr/>
          <p:nvPr/>
        </p:nvSpPr>
        <p:spPr>
          <a:xfrm>
            <a:off x="2697480" y="194760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6b6d4"/>
                </a:solidFill>
                <a:latin typeface="Calibri"/>
                <a:ea typeface="Calibri"/>
              </a:rPr>
              <a:t>knn_model.pkl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Text 16"/>
          <p:cNvSpPr/>
          <p:nvPr/>
        </p:nvSpPr>
        <p:spPr>
          <a:xfrm>
            <a:off x="2697480" y="217620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Category output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Text 17"/>
          <p:cNvSpPr/>
          <p:nvPr/>
        </p:nvSpPr>
        <p:spPr>
          <a:xfrm>
            <a:off x="4800600" y="1947600"/>
            <a:ext cx="3840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Predicts the broad career category (IT &amp; Data, Engineering, etc.) from the encoded query vector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Shape 18"/>
          <p:cNvSpPr/>
          <p:nvPr/>
        </p:nvSpPr>
        <p:spPr>
          <a:xfrm>
            <a:off x="365760" y="2615040"/>
            <a:ext cx="8412120" cy="66708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1" name="Shape 19"/>
          <p:cNvSpPr/>
          <p:nvPr/>
        </p:nvSpPr>
        <p:spPr>
          <a:xfrm>
            <a:off x="365760" y="2615040"/>
            <a:ext cx="45360" cy="66708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2" name="Text 20"/>
          <p:cNvSpPr/>
          <p:nvPr/>
        </p:nvSpPr>
        <p:spPr>
          <a:xfrm>
            <a:off x="548640" y="267912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Label Encoder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Text 21"/>
          <p:cNvSpPr/>
          <p:nvPr/>
        </p:nvSpPr>
        <p:spPr>
          <a:xfrm>
            <a:off x="548640" y="295344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Scikit-learn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 22"/>
          <p:cNvSpPr/>
          <p:nvPr/>
        </p:nvSpPr>
        <p:spPr>
          <a:xfrm>
            <a:off x="2697480" y="270648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a78bfa"/>
                </a:solidFill>
                <a:latin typeface="Calibri"/>
                <a:ea typeface="Calibri"/>
              </a:rPr>
              <a:t>le_career.pkl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Text 23"/>
          <p:cNvSpPr/>
          <p:nvPr/>
        </p:nvSpPr>
        <p:spPr>
          <a:xfrm>
            <a:off x="2697480" y="293508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String ↔ Integer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Text 24"/>
          <p:cNvSpPr/>
          <p:nvPr/>
        </p:nvSpPr>
        <p:spPr>
          <a:xfrm>
            <a:off x="4800600" y="2706480"/>
            <a:ext cx="3840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Encodes and decodes career category string labels for use in the KNN pipeline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Shape 25"/>
          <p:cNvSpPr/>
          <p:nvPr/>
        </p:nvSpPr>
        <p:spPr>
          <a:xfrm>
            <a:off x="365760" y="3374280"/>
            <a:ext cx="8412120" cy="66708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8" name="Shape 26"/>
          <p:cNvSpPr/>
          <p:nvPr/>
        </p:nvSpPr>
        <p:spPr>
          <a:xfrm>
            <a:off x="365760" y="3374280"/>
            <a:ext cx="45360" cy="667080"/>
          </a:xfrm>
          <a:prstGeom prst="rect">
            <a:avLst/>
          </a:prstGeom>
          <a:solidFill>
            <a:srgbClr val="ecc9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9" name="Text 27"/>
          <p:cNvSpPr/>
          <p:nvPr/>
        </p:nvSpPr>
        <p:spPr>
          <a:xfrm>
            <a:off x="548640" y="34380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Linear Regression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Text 28"/>
          <p:cNvSpPr/>
          <p:nvPr/>
        </p:nvSpPr>
        <p:spPr>
          <a:xfrm>
            <a:off x="548640" y="371232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Scikit-learn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Text 29"/>
          <p:cNvSpPr/>
          <p:nvPr/>
        </p:nvSpPr>
        <p:spPr>
          <a:xfrm>
            <a:off x="2697480" y="346572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cc94b"/>
                </a:solidFill>
                <a:latin typeface="Calibri"/>
                <a:ea typeface="Calibri"/>
              </a:rPr>
              <a:t>readiness_model.pkl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Text 30"/>
          <p:cNvSpPr/>
          <p:nvPr/>
        </p:nvSpPr>
        <p:spPr>
          <a:xfrm>
            <a:off x="2697480" y="369432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0–100% output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Text 31"/>
          <p:cNvSpPr/>
          <p:nvPr/>
        </p:nvSpPr>
        <p:spPr>
          <a:xfrm>
            <a:off x="4800600" y="3465720"/>
            <a:ext cx="3840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Predicts readiness score from 5 self-rating inputs; output is clamped to the 0–100% range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Shape 32"/>
          <p:cNvSpPr/>
          <p:nvPr/>
        </p:nvSpPr>
        <p:spPr>
          <a:xfrm>
            <a:off x="365760" y="4133160"/>
            <a:ext cx="8412120" cy="66708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5" name="Shape 33"/>
          <p:cNvSpPr/>
          <p:nvPr/>
        </p:nvSpPr>
        <p:spPr>
          <a:xfrm>
            <a:off x="365760" y="4133160"/>
            <a:ext cx="45360" cy="667080"/>
          </a:xfrm>
          <a:prstGeom prst="rect">
            <a:avLst/>
          </a:prstGeom>
          <a:solidFill>
            <a:srgbClr val="68d39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6" name="Text 34"/>
          <p:cNvSpPr/>
          <p:nvPr/>
        </p:nvSpPr>
        <p:spPr>
          <a:xfrm>
            <a:off x="548640" y="419724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Career Embeddings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 35"/>
          <p:cNvSpPr/>
          <p:nvPr/>
        </p:nvSpPr>
        <p:spPr>
          <a:xfrm>
            <a:off x="548640" y="447156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NumPy Array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Text 36"/>
          <p:cNvSpPr/>
          <p:nvPr/>
        </p:nvSpPr>
        <p:spPr>
          <a:xfrm>
            <a:off x="2697480" y="422460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68d391"/>
                </a:solidFill>
                <a:latin typeface="Calibri"/>
                <a:ea typeface="Calibri"/>
              </a:rPr>
              <a:t>career_embeddings.npy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Text 37"/>
          <p:cNvSpPr/>
          <p:nvPr/>
        </p:nvSpPr>
        <p:spPr>
          <a:xfrm>
            <a:off x="2697480" y="445320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74 × 384 matrix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Text 38"/>
          <p:cNvSpPr/>
          <p:nvPr/>
        </p:nvSpPr>
        <p:spPr>
          <a:xfrm>
            <a:off x="4800600" y="4224600"/>
            <a:ext cx="3840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Pre-computed SBERT vectors for all 74 careers — enables fast cosine similarity matching at query time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f687b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2" name="Text 1"/>
          <p:cNvSpPr/>
          <p:nvPr/>
        </p:nvSpPr>
        <p:spPr>
          <a:xfrm>
            <a:off x="457200" y="25596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98" strike="noStrike">
                <a:solidFill>
                  <a:srgbClr val="3b82f6"/>
                </a:solidFill>
                <a:latin typeface="Calibri"/>
                <a:ea typeface="Calibri"/>
              </a:rPr>
              <a:t>UX &amp; HCI DESIGN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Text 2"/>
          <p:cNvSpPr/>
          <p:nvPr/>
        </p:nvSpPr>
        <p:spPr>
          <a:xfrm>
            <a:off x="7955280" y="484632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12 / 14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Text 3"/>
          <p:cNvSpPr/>
          <p:nvPr/>
        </p:nvSpPr>
        <p:spPr>
          <a:xfrm>
            <a:off x="457200" y="5029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Design Philosophy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Shape 4"/>
          <p:cNvSpPr/>
          <p:nvPr/>
        </p:nvSpPr>
        <p:spPr>
          <a:xfrm>
            <a:off x="365760" y="1097280"/>
            <a:ext cx="4160160" cy="117000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6" name="Shape 5"/>
          <p:cNvSpPr/>
          <p:nvPr/>
        </p:nvSpPr>
        <p:spPr>
          <a:xfrm>
            <a:off x="365760" y="1097280"/>
            <a:ext cx="4160160" cy="453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7" name="Text 6"/>
          <p:cNvSpPr/>
          <p:nvPr/>
        </p:nvSpPr>
        <p:spPr>
          <a:xfrm>
            <a:off x="502920" y="120708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Cognitive Load Reduction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Text 7"/>
          <p:cNvSpPr/>
          <p:nvPr/>
        </p:nvSpPr>
        <p:spPr>
          <a:xfrm>
            <a:off x="502920" y="1508760"/>
            <a:ext cx="3931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Raw cosine scores are never shown. Only scaled 50–99% match percentages are displayed to users.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Shape 8"/>
          <p:cNvSpPr/>
          <p:nvPr/>
        </p:nvSpPr>
        <p:spPr>
          <a:xfrm>
            <a:off x="4754880" y="1097280"/>
            <a:ext cx="4160160" cy="117000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0" name="Shape 9"/>
          <p:cNvSpPr/>
          <p:nvPr/>
        </p:nvSpPr>
        <p:spPr>
          <a:xfrm>
            <a:off x="4754880" y="1097280"/>
            <a:ext cx="4160160" cy="4536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1" name="Text 10"/>
          <p:cNvSpPr/>
          <p:nvPr/>
        </p:nvSpPr>
        <p:spPr>
          <a:xfrm>
            <a:off x="4892040" y="120708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Modern Interaction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Text 11"/>
          <p:cNvSpPr/>
          <p:nvPr/>
        </p:nvSpPr>
        <p:spPr>
          <a:xfrm>
            <a:off x="4892040" y="1508760"/>
            <a:ext cx="3931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Traditional dropdowns replaced with st.pills (clickable chips) and sliders — reducing input friction.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Shape 12"/>
          <p:cNvSpPr/>
          <p:nvPr/>
        </p:nvSpPr>
        <p:spPr>
          <a:xfrm>
            <a:off x="365760" y="2423160"/>
            <a:ext cx="4160160" cy="117000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4" name="Shape 13"/>
          <p:cNvSpPr/>
          <p:nvPr/>
        </p:nvSpPr>
        <p:spPr>
          <a:xfrm>
            <a:off x="365760" y="2423160"/>
            <a:ext cx="4160160" cy="45360"/>
          </a:xfrm>
          <a:prstGeom prst="rect">
            <a:avLst/>
          </a:prstGeom>
          <a:solidFill>
            <a:srgbClr val="f687b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5" name="Text 14"/>
          <p:cNvSpPr/>
          <p:nvPr/>
        </p:nvSpPr>
        <p:spPr>
          <a:xfrm>
            <a:off x="502920" y="253296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Visual Communication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Text 15"/>
          <p:cNvSpPr/>
          <p:nvPr/>
        </p:nvSpPr>
        <p:spPr>
          <a:xfrm>
            <a:off x="502920" y="2834640"/>
            <a:ext cx="3931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Gauge charts use red/yellow/green to communicate readiness at a glance without interpreting numbers.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Shape 16"/>
          <p:cNvSpPr/>
          <p:nvPr/>
        </p:nvSpPr>
        <p:spPr>
          <a:xfrm>
            <a:off x="4754880" y="2423160"/>
            <a:ext cx="4160160" cy="117000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8" name="Shape 17"/>
          <p:cNvSpPr/>
          <p:nvPr/>
        </p:nvSpPr>
        <p:spPr>
          <a:xfrm>
            <a:off x="4754880" y="2423160"/>
            <a:ext cx="4160160" cy="4536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9" name="Text 18"/>
          <p:cNvSpPr/>
          <p:nvPr/>
        </p:nvSpPr>
        <p:spPr>
          <a:xfrm>
            <a:off x="4892040" y="253296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Consistency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Text 19"/>
          <p:cNvSpPr/>
          <p:nvPr/>
        </p:nvSpPr>
        <p:spPr>
          <a:xfrm>
            <a:off x="4892040" y="2834640"/>
            <a:ext cx="3931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render_card() component ensures every career is displayed in the same structured format across all pages.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Shape 20"/>
          <p:cNvSpPr/>
          <p:nvPr/>
        </p:nvSpPr>
        <p:spPr>
          <a:xfrm>
            <a:off x="365760" y="3749040"/>
            <a:ext cx="4160160" cy="117000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2" name="Shape 21"/>
          <p:cNvSpPr/>
          <p:nvPr/>
        </p:nvSpPr>
        <p:spPr>
          <a:xfrm>
            <a:off x="365760" y="3749040"/>
            <a:ext cx="4160160" cy="45360"/>
          </a:xfrm>
          <a:prstGeom prst="rect">
            <a:avLst/>
          </a:prstGeom>
          <a:solidFill>
            <a:srgbClr val="ecc9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3" name="Text 22"/>
          <p:cNvSpPr/>
          <p:nvPr/>
        </p:nvSpPr>
        <p:spPr>
          <a:xfrm>
            <a:off x="502920" y="385884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Glassmorphism Aesthetic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Text 23"/>
          <p:cNvSpPr/>
          <p:nvPr/>
        </p:nvSpPr>
        <p:spPr>
          <a:xfrm>
            <a:off x="502920" y="4160520"/>
            <a:ext cx="3931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Dark gradient (#0f0c29 → #24243e) with translucent panels delivers a premium feel while maintaining legibility.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Shape 24"/>
          <p:cNvSpPr/>
          <p:nvPr/>
        </p:nvSpPr>
        <p:spPr>
          <a:xfrm>
            <a:off x="4754880" y="3749040"/>
            <a:ext cx="4160160" cy="117000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6" name="Shape 25"/>
          <p:cNvSpPr/>
          <p:nvPr/>
        </p:nvSpPr>
        <p:spPr>
          <a:xfrm>
            <a:off x="4754880" y="3749040"/>
            <a:ext cx="4160160" cy="45360"/>
          </a:xfrm>
          <a:prstGeom prst="rect">
            <a:avLst/>
          </a:prstGeom>
          <a:solidFill>
            <a:srgbClr val="68d39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7" name="Text 26"/>
          <p:cNvSpPr/>
          <p:nvPr/>
        </p:nvSpPr>
        <p:spPr>
          <a:xfrm>
            <a:off x="4892040" y="385884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Out-of-Scope Protection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Text 27"/>
          <p:cNvSpPr/>
          <p:nvPr/>
        </p:nvSpPr>
        <p:spPr>
          <a:xfrm>
            <a:off x="4892040" y="4160520"/>
            <a:ext cx="3931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Execution gate rejects inputs with similarity &lt; 0.22, preventing irrelevant or confusing results.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68d39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0" name="Text 1"/>
          <p:cNvSpPr/>
          <p:nvPr/>
        </p:nvSpPr>
        <p:spPr>
          <a:xfrm>
            <a:off x="457200" y="25596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98" strike="noStrike">
                <a:solidFill>
                  <a:srgbClr val="3b82f6"/>
                </a:solidFill>
                <a:latin typeface="Calibri"/>
                <a:ea typeface="Calibri"/>
              </a:rPr>
              <a:t>SETUP &amp; DEPLOYMENT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Text 2"/>
          <p:cNvSpPr/>
          <p:nvPr/>
        </p:nvSpPr>
        <p:spPr>
          <a:xfrm>
            <a:off x="7955280" y="484632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13 / 14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Text 3"/>
          <p:cNvSpPr/>
          <p:nvPr/>
        </p:nvSpPr>
        <p:spPr>
          <a:xfrm>
            <a:off x="457200" y="5029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Setup &amp; Deployment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93" name="Image 0" descr="preencoded.png"/>
          <p:cNvPicPr/>
          <p:nvPr/>
        </p:nvPicPr>
        <p:blipFill>
          <a:blip r:embed="rId1"/>
          <a:stretch/>
        </p:blipFill>
        <p:spPr>
          <a:xfrm>
            <a:off x="502920" y="114300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394" name="Text 4"/>
          <p:cNvSpPr/>
          <p:nvPr/>
        </p:nvSpPr>
        <p:spPr>
          <a:xfrm>
            <a:off x="1005840" y="118872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Development Environment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Shape 5"/>
          <p:cNvSpPr/>
          <p:nvPr/>
        </p:nvSpPr>
        <p:spPr>
          <a:xfrm>
            <a:off x="365760" y="1600200"/>
            <a:ext cx="4205880" cy="155412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6" name="Text 6"/>
          <p:cNvSpPr/>
          <p:nvPr/>
        </p:nvSpPr>
        <p:spPr>
          <a:xfrm>
            <a:off x="548640" y="1719000"/>
            <a:ext cx="384012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.devcontainer.json ships with the project.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Opens in GitHub Codespaces or VS Code with Python 3.11 and all dependencies auto-installed.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Ports forwarded automatically — zero setup.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Shape 7"/>
          <p:cNvSpPr/>
          <p:nvPr/>
        </p:nvSpPr>
        <p:spPr>
          <a:xfrm>
            <a:off x="365760" y="3291840"/>
            <a:ext cx="4205880" cy="146268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8" name="Text 8"/>
          <p:cNvSpPr/>
          <p:nvPr/>
        </p:nvSpPr>
        <p:spPr>
          <a:xfrm>
            <a:off x="548640" y="340164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299" strike="noStrike">
                <a:solidFill>
                  <a:srgbClr val="68d391"/>
                </a:solidFill>
                <a:latin typeface="Calibri"/>
                <a:ea typeface="Calibri"/>
              </a:rPr>
              <a:t>VERSION CONTROL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Text 9"/>
          <p:cNvSpPr/>
          <p:nvPr/>
        </p:nvSpPr>
        <p:spPr>
          <a:xfrm>
            <a:off x="548640" y="3657600"/>
            <a:ext cx="3840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Git with comprehensive .gitignore — tracks only source code, excludes venv/, __pycache__/, and build artifacts for a clean, portable repository.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Text 10"/>
          <p:cNvSpPr/>
          <p:nvPr/>
        </p:nvSpPr>
        <p:spPr>
          <a:xfrm>
            <a:off x="4754880" y="109728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Run the App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Shape 11"/>
          <p:cNvSpPr/>
          <p:nvPr/>
        </p:nvSpPr>
        <p:spPr>
          <a:xfrm>
            <a:off x="4754880" y="1508760"/>
            <a:ext cx="4023000" cy="685440"/>
          </a:xfrm>
          <a:prstGeom prst="rect">
            <a:avLst/>
          </a:prstGeom>
          <a:solidFill>
            <a:srgbClr val="0d1b3e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2" name="Text 12"/>
          <p:cNvSpPr/>
          <p:nvPr/>
        </p:nvSpPr>
        <p:spPr>
          <a:xfrm>
            <a:off x="4919400" y="166428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68d391"/>
                </a:solidFill>
                <a:latin typeface="Courier New"/>
                <a:ea typeface="Courier New"/>
              </a:rPr>
              <a:t>$ streamlit run app.py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Text 13"/>
          <p:cNvSpPr/>
          <p:nvPr/>
        </p:nvSpPr>
        <p:spPr>
          <a:xfrm>
            <a:off x="4754880" y="228600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Launches the full application in the browser on localhost.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Text 14"/>
          <p:cNvSpPr/>
          <p:nvPr/>
        </p:nvSpPr>
        <p:spPr>
          <a:xfrm>
            <a:off x="4754880" y="2788920"/>
            <a:ext cx="402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299" strike="noStrike">
                <a:solidFill>
                  <a:srgbClr val="68d391"/>
                </a:solidFill>
                <a:latin typeface="Calibri"/>
                <a:ea typeface="Calibri"/>
              </a:rPr>
              <a:t>REQUIREMENTS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Shape 15"/>
          <p:cNvSpPr/>
          <p:nvPr/>
        </p:nvSpPr>
        <p:spPr>
          <a:xfrm>
            <a:off x="4754880" y="3090600"/>
            <a:ext cx="1874160" cy="38376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6" name="Text 16"/>
          <p:cNvSpPr/>
          <p:nvPr/>
        </p:nvSpPr>
        <p:spPr>
          <a:xfrm>
            <a:off x="4846320" y="3163680"/>
            <a:ext cx="1691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alibri"/>
                <a:ea typeface="Calibri"/>
              </a:rPr>
              <a:t>Python 3.11+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Shape 17"/>
          <p:cNvSpPr/>
          <p:nvPr/>
        </p:nvSpPr>
        <p:spPr>
          <a:xfrm>
            <a:off x="6766560" y="3090600"/>
            <a:ext cx="1874160" cy="38376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8" name="Text 18"/>
          <p:cNvSpPr/>
          <p:nvPr/>
        </p:nvSpPr>
        <p:spPr>
          <a:xfrm>
            <a:off x="6858000" y="3163680"/>
            <a:ext cx="1691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alibri"/>
                <a:ea typeface="Calibri"/>
              </a:rPr>
              <a:t>Streamlit 1.57+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Shape 19"/>
          <p:cNvSpPr/>
          <p:nvPr/>
        </p:nvSpPr>
        <p:spPr>
          <a:xfrm>
            <a:off x="4754880" y="3593520"/>
            <a:ext cx="1874160" cy="38376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0" name="Text 20"/>
          <p:cNvSpPr/>
          <p:nvPr/>
        </p:nvSpPr>
        <p:spPr>
          <a:xfrm>
            <a:off x="4846320" y="3666600"/>
            <a:ext cx="1691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alibri"/>
                <a:ea typeface="Calibri"/>
              </a:rPr>
              <a:t>sentence-transformers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Shape 21"/>
          <p:cNvSpPr/>
          <p:nvPr/>
        </p:nvSpPr>
        <p:spPr>
          <a:xfrm>
            <a:off x="6766560" y="3593520"/>
            <a:ext cx="1874160" cy="38376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2" name="Text 22"/>
          <p:cNvSpPr/>
          <p:nvPr/>
        </p:nvSpPr>
        <p:spPr>
          <a:xfrm>
            <a:off x="6858000" y="3666600"/>
            <a:ext cx="1691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alibri"/>
                <a:ea typeface="Calibri"/>
              </a:rPr>
              <a:t>scikit-learn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Shape 23"/>
          <p:cNvSpPr/>
          <p:nvPr/>
        </p:nvSpPr>
        <p:spPr>
          <a:xfrm>
            <a:off x="4754880" y="4096440"/>
            <a:ext cx="1874160" cy="38376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4" name="Text 24"/>
          <p:cNvSpPr/>
          <p:nvPr/>
        </p:nvSpPr>
        <p:spPr>
          <a:xfrm>
            <a:off x="4846320" y="4169520"/>
            <a:ext cx="1691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alibri"/>
                <a:ea typeface="Calibri"/>
              </a:rPr>
              <a:t>plotly, altair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Shape 25"/>
          <p:cNvSpPr/>
          <p:nvPr/>
        </p:nvSpPr>
        <p:spPr>
          <a:xfrm>
            <a:off x="6766560" y="4096440"/>
            <a:ext cx="1874160" cy="38376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6" name="Text 26"/>
          <p:cNvSpPr/>
          <p:nvPr/>
        </p:nvSpPr>
        <p:spPr>
          <a:xfrm>
            <a:off x="6858000" y="4169520"/>
            <a:ext cx="1691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alibri"/>
                <a:ea typeface="Calibri"/>
              </a:rPr>
              <a:t>pandas, numpy, joblib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8" name="Text 1"/>
          <p:cNvSpPr/>
          <p:nvPr/>
        </p:nvSpPr>
        <p:spPr>
          <a:xfrm>
            <a:off x="457200" y="25596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98" strike="noStrike">
                <a:solidFill>
                  <a:srgbClr val="3b82f6"/>
                </a:solidFill>
                <a:latin typeface="Calibri"/>
                <a:ea typeface="Calibri"/>
              </a:rPr>
              <a:t>CONCLUSION &amp; FUTURE SCOPE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Text 2"/>
          <p:cNvSpPr/>
          <p:nvPr/>
        </p:nvSpPr>
        <p:spPr>
          <a:xfrm>
            <a:off x="7955280" y="484632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14 / 14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Text 3"/>
          <p:cNvSpPr/>
          <p:nvPr/>
        </p:nvSpPr>
        <p:spPr>
          <a:xfrm>
            <a:off x="457200" y="5029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Conclusion &amp; What's Next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Shape 4"/>
          <p:cNvSpPr/>
          <p:nvPr/>
        </p:nvSpPr>
        <p:spPr>
          <a:xfrm>
            <a:off x="365760" y="1051560"/>
            <a:ext cx="8412120" cy="1234080"/>
          </a:xfrm>
          <a:prstGeom prst="rect">
            <a:avLst/>
          </a:prstGeom>
          <a:solidFill>
            <a:srgbClr val="0d1b3e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2" name="Shape 5"/>
          <p:cNvSpPr/>
          <p:nvPr/>
        </p:nvSpPr>
        <p:spPr>
          <a:xfrm>
            <a:off x="365760" y="1051560"/>
            <a:ext cx="8412120" cy="543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423" name="Image 0" descr="preencoded.png"/>
          <p:cNvPicPr/>
          <p:nvPr/>
        </p:nvPicPr>
        <p:blipFill>
          <a:blip r:embed="rId1"/>
          <a:stretch/>
        </p:blipFill>
        <p:spPr>
          <a:xfrm>
            <a:off x="594360" y="132588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424" name="Text 6"/>
          <p:cNvSpPr/>
          <p:nvPr/>
        </p:nvSpPr>
        <p:spPr>
          <a:xfrm>
            <a:off x="1143000" y="1170360"/>
            <a:ext cx="74062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  <a:ea typeface="Calibri"/>
              </a:rPr>
              <a:t>CareerLens successfully localizes modern AI (SBERT + KNN + Linear Regression) to solve Pakistan's career guidance gap. The platform is robust, fast, and accessible to non-technical users through a polished, minimalist interface.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Text 7"/>
          <p:cNvSpPr/>
          <p:nvPr/>
        </p:nvSpPr>
        <p:spPr>
          <a:xfrm>
            <a:off x="365760" y="242316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299" strike="noStrike">
                <a:solidFill>
                  <a:srgbClr val="06b6d4"/>
                </a:solidFill>
                <a:latin typeface="Calibri"/>
                <a:ea typeface="Calibri"/>
              </a:rPr>
              <a:t>FUTURE SCOPE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Shape 8"/>
          <p:cNvSpPr/>
          <p:nvPr/>
        </p:nvSpPr>
        <p:spPr>
          <a:xfrm>
            <a:off x="365760" y="2743200"/>
            <a:ext cx="2011320" cy="210276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7" name="Shape 9"/>
          <p:cNvSpPr/>
          <p:nvPr/>
        </p:nvSpPr>
        <p:spPr>
          <a:xfrm>
            <a:off x="365760" y="2743200"/>
            <a:ext cx="2011320" cy="453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428" name="Image 1" descr="preencoded.png"/>
          <p:cNvPicPr/>
          <p:nvPr/>
        </p:nvPicPr>
        <p:blipFill>
          <a:blip r:embed="rId2"/>
          <a:stretch/>
        </p:blipFill>
        <p:spPr>
          <a:xfrm>
            <a:off x="1078920" y="29260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429" name="Text 10"/>
          <p:cNvSpPr/>
          <p:nvPr/>
        </p:nvSpPr>
        <p:spPr>
          <a:xfrm>
            <a:off x="457200" y="361188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Live Job Postings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Text 11"/>
          <p:cNvSpPr/>
          <p:nvPr/>
        </p:nvSpPr>
        <p:spPr>
          <a:xfrm>
            <a:off x="457200" y="3977640"/>
            <a:ext cx="1828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API integration with Rozee.pk and LinkedIn Pakistan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Shape 12"/>
          <p:cNvSpPr/>
          <p:nvPr/>
        </p:nvSpPr>
        <p:spPr>
          <a:xfrm>
            <a:off x="2514600" y="2743200"/>
            <a:ext cx="2011320" cy="210276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2" name="Shape 13"/>
          <p:cNvSpPr/>
          <p:nvPr/>
        </p:nvSpPr>
        <p:spPr>
          <a:xfrm>
            <a:off x="2514600" y="2743200"/>
            <a:ext cx="2011320" cy="4536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433" name="Image 2" descr="preencoded.png"/>
          <p:cNvPicPr/>
          <p:nvPr/>
        </p:nvPicPr>
        <p:blipFill>
          <a:blip r:embed="rId3"/>
          <a:stretch/>
        </p:blipFill>
        <p:spPr>
          <a:xfrm>
            <a:off x="3227760" y="29260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434" name="Text 14"/>
          <p:cNvSpPr/>
          <p:nvPr/>
        </p:nvSpPr>
        <p:spPr>
          <a:xfrm>
            <a:off x="2606040" y="361188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Larger Dataset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Text 15"/>
          <p:cNvSpPr/>
          <p:nvPr/>
        </p:nvSpPr>
        <p:spPr>
          <a:xfrm>
            <a:off x="2606040" y="3977640"/>
            <a:ext cx="1828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Expand training data for better KNN accuracy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Shape 16"/>
          <p:cNvSpPr/>
          <p:nvPr/>
        </p:nvSpPr>
        <p:spPr>
          <a:xfrm>
            <a:off x="4663440" y="2743200"/>
            <a:ext cx="2011320" cy="210276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7" name="Shape 17"/>
          <p:cNvSpPr/>
          <p:nvPr/>
        </p:nvSpPr>
        <p:spPr>
          <a:xfrm>
            <a:off x="4663440" y="2743200"/>
            <a:ext cx="2011320" cy="4536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438" name="Image 3" descr="preencoded.png"/>
          <p:cNvPicPr/>
          <p:nvPr/>
        </p:nvPicPr>
        <p:blipFill>
          <a:blip r:embed="rId4"/>
          <a:stretch/>
        </p:blipFill>
        <p:spPr>
          <a:xfrm>
            <a:off x="5376600" y="29260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439" name="Text 18"/>
          <p:cNvSpPr/>
          <p:nvPr/>
        </p:nvSpPr>
        <p:spPr>
          <a:xfrm>
            <a:off x="4754880" y="361188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Mobile App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" name="Text 19"/>
          <p:cNvSpPr/>
          <p:nvPr/>
        </p:nvSpPr>
        <p:spPr>
          <a:xfrm>
            <a:off x="4754880" y="3977640"/>
            <a:ext cx="1828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iOS / Android version for wider reach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Shape 20"/>
          <p:cNvSpPr/>
          <p:nvPr/>
        </p:nvSpPr>
        <p:spPr>
          <a:xfrm>
            <a:off x="6812280" y="2743200"/>
            <a:ext cx="2011320" cy="210276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e"/>
            </a:solidFill>
            <a:round/>
          </a:ln>
          <a:effectLst>
            <a:outerShdw algn="bl" blurRad="152280" dir="8100000" dist="50402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2" name="Shape 21"/>
          <p:cNvSpPr/>
          <p:nvPr/>
        </p:nvSpPr>
        <p:spPr>
          <a:xfrm>
            <a:off x="6812280" y="2743200"/>
            <a:ext cx="2011320" cy="45360"/>
          </a:xfrm>
          <a:prstGeom prst="rect">
            <a:avLst/>
          </a:prstGeom>
          <a:solidFill>
            <a:srgbClr val="ecc9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443" name="Image 4" descr="preencoded.png"/>
          <p:cNvPicPr/>
          <p:nvPr/>
        </p:nvPicPr>
        <p:blipFill>
          <a:blip r:embed="rId5"/>
          <a:stretch/>
        </p:blipFill>
        <p:spPr>
          <a:xfrm>
            <a:off x="7525440" y="29260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444" name="Text 22"/>
          <p:cNvSpPr/>
          <p:nvPr/>
        </p:nvSpPr>
        <p:spPr>
          <a:xfrm>
            <a:off x="6903720" y="361188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University Guidance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Text 23"/>
          <p:cNvSpPr/>
          <p:nvPr/>
        </p:nvSpPr>
        <p:spPr>
          <a:xfrm>
            <a:off x="6903720" y="3977640"/>
            <a:ext cx="1828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MDCAT / ECAT deadlines, merit thresholds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LibreOffice/24.2.7.2$Linux_X86_64 LibreOffice_project/420$Build-2</Application>
  <AppVersion>15.0000</AppVersion>
  <Words>1268</Words>
  <Paragraphs>286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2026-05-14T04:11:59Z</dcterms:created>
  <dc:creator>CareerLens Development Team</dc:creator>
  <dc:description/>
  <dc:language>en-US</dc:language>
  <cp:lastModifiedBy/>
  <dcterms:modified xsi:type="dcterms:W3CDTF">2026-05-14T09:33:50Z</dcterms:modified>
  <cp:revision>3</cp:revision>
  <dc:subject>PptxGenJS Presentation</dc:subject>
  <dc:title>CareerLens Pakistan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